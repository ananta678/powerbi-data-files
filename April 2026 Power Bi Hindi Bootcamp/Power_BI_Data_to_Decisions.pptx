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147482032" r:id="rId2"/>
    <p:sldId id="256" r:id="rId3"/>
    <p:sldId id="274" r:id="rId4"/>
    <p:sldId id="2147482029" r:id="rId5"/>
    <p:sldId id="285" r:id="rId6"/>
    <p:sldId id="295" r:id="rId7"/>
    <p:sldId id="2147482030" r:id="rId8"/>
    <p:sldId id="257" r:id="rId9"/>
    <p:sldId id="258" r:id="rId10"/>
    <p:sldId id="259" r:id="rId11"/>
    <p:sldId id="260" r:id="rId12"/>
    <p:sldId id="294" r:id="rId13"/>
    <p:sldId id="2147482034" r:id="rId14"/>
    <p:sldId id="261" r:id="rId15"/>
    <p:sldId id="313" r:id="rId16"/>
    <p:sldId id="262" r:id="rId17"/>
    <p:sldId id="263" r:id="rId18"/>
    <p:sldId id="264" r:id="rId19"/>
    <p:sldId id="272" r:id="rId20"/>
    <p:sldId id="273" r:id="rId21"/>
    <p:sldId id="265" r:id="rId22"/>
    <p:sldId id="266" r:id="rId23"/>
    <p:sldId id="267" r:id="rId24"/>
    <p:sldId id="2147482031" r:id="rId25"/>
    <p:sldId id="268" r:id="rId26"/>
    <p:sldId id="269" r:id="rId27"/>
    <p:sldId id="270" r:id="rId2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84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E0718D-8809-41DE-8659-B6FDB5CFC1F9}" type="doc">
      <dgm:prSet loTypeId="urn:microsoft.com/office/officeart/2005/8/layout/hierarchy1" loCatId="hierarchy" qsTypeId="urn:microsoft.com/office/officeart/2005/8/quickstyle/simple5" qsCatId="simple" csTypeId="urn:microsoft.com/office/officeart/2005/8/colors/accent1_2" csCatId="accent1"/>
      <dgm:spPr/>
      <dgm:t>
        <a:bodyPr/>
        <a:lstStyle/>
        <a:p>
          <a:endParaRPr lang="en-US"/>
        </a:p>
      </dgm:t>
    </dgm:pt>
    <dgm:pt modelId="{26037481-92F7-424D-AF52-2E4035AEAFB0}">
      <dgm:prSet/>
      <dgm:spPr/>
      <dgm:t>
        <a:bodyPr/>
        <a:lstStyle/>
        <a:p>
          <a:r>
            <a:rPr lang="en-US"/>
            <a:t>Wikipedia “Data is a set of values of qualitative or quantitative variables. Data and information are often used interchangeably”</a:t>
          </a:r>
        </a:p>
      </dgm:t>
    </dgm:pt>
    <dgm:pt modelId="{1A41D38C-ABB5-4F37-A1C3-E84C0825C569}" type="parTrans" cxnId="{1802EF1A-7CB4-4FA9-8E93-24B429C37A08}">
      <dgm:prSet/>
      <dgm:spPr/>
      <dgm:t>
        <a:bodyPr/>
        <a:lstStyle/>
        <a:p>
          <a:endParaRPr lang="en-US"/>
        </a:p>
      </dgm:t>
    </dgm:pt>
    <dgm:pt modelId="{16F06228-F0C9-4213-A137-2BB4F63F060A}" type="sibTrans" cxnId="{1802EF1A-7CB4-4FA9-8E93-24B429C37A08}">
      <dgm:prSet/>
      <dgm:spPr/>
      <dgm:t>
        <a:bodyPr/>
        <a:lstStyle/>
        <a:p>
          <a:endParaRPr lang="en-US"/>
        </a:p>
      </dgm:t>
    </dgm:pt>
    <dgm:pt modelId="{6B62695A-9E0E-428F-8352-1A5F1E653B81}">
      <dgm:prSet/>
      <dgm:spPr/>
      <dgm:t>
        <a:bodyPr/>
        <a:lstStyle/>
        <a:p>
          <a:r>
            <a:rPr lang="en-US"/>
            <a:t>Data is collected to provide information. Data can be structure, unstructured or semi structured. We are generating data every moment, any action we do may be creating data</a:t>
          </a:r>
        </a:p>
      </dgm:t>
    </dgm:pt>
    <dgm:pt modelId="{307D9B55-67AF-4932-A7D3-042B02A216C5}" type="parTrans" cxnId="{2E27903B-633C-4E6A-981E-C702EE9B6FA4}">
      <dgm:prSet/>
      <dgm:spPr/>
      <dgm:t>
        <a:bodyPr/>
        <a:lstStyle/>
        <a:p>
          <a:endParaRPr lang="en-US"/>
        </a:p>
      </dgm:t>
    </dgm:pt>
    <dgm:pt modelId="{6F50EFDA-B14E-4A9B-9769-A45805FFF5E3}" type="sibTrans" cxnId="{2E27903B-633C-4E6A-981E-C702EE9B6FA4}">
      <dgm:prSet/>
      <dgm:spPr/>
      <dgm:t>
        <a:bodyPr/>
        <a:lstStyle/>
        <a:p>
          <a:endParaRPr lang="en-US"/>
        </a:p>
      </dgm:t>
    </dgm:pt>
    <dgm:pt modelId="{A300CC4B-EF44-4814-AA04-C4DB5DCC1E8F}" type="pres">
      <dgm:prSet presAssocID="{ECE0718D-8809-41DE-8659-B6FDB5CFC1F9}" presName="hierChild1" presStyleCnt="0">
        <dgm:presLayoutVars>
          <dgm:chPref val="1"/>
          <dgm:dir/>
          <dgm:animOne val="branch"/>
          <dgm:animLvl val="lvl"/>
          <dgm:resizeHandles/>
        </dgm:presLayoutVars>
      </dgm:prSet>
      <dgm:spPr/>
    </dgm:pt>
    <dgm:pt modelId="{54CBA632-FA58-4C4E-8A80-0DC79A9F5A58}" type="pres">
      <dgm:prSet presAssocID="{26037481-92F7-424D-AF52-2E4035AEAFB0}" presName="hierRoot1" presStyleCnt="0"/>
      <dgm:spPr/>
    </dgm:pt>
    <dgm:pt modelId="{CF421FB9-6920-462B-AADF-5CF74CC845D0}" type="pres">
      <dgm:prSet presAssocID="{26037481-92F7-424D-AF52-2E4035AEAFB0}" presName="composite" presStyleCnt="0"/>
      <dgm:spPr/>
    </dgm:pt>
    <dgm:pt modelId="{2AA7C38F-04D5-4EE9-96F7-D2FA8C4240F5}" type="pres">
      <dgm:prSet presAssocID="{26037481-92F7-424D-AF52-2E4035AEAFB0}" presName="background" presStyleLbl="node0" presStyleIdx="0" presStyleCnt="2"/>
      <dgm:spPr/>
    </dgm:pt>
    <dgm:pt modelId="{A69FE2EE-6C26-4126-A153-43559D6F3C3D}" type="pres">
      <dgm:prSet presAssocID="{26037481-92F7-424D-AF52-2E4035AEAFB0}" presName="text" presStyleLbl="fgAcc0" presStyleIdx="0" presStyleCnt="2">
        <dgm:presLayoutVars>
          <dgm:chPref val="3"/>
        </dgm:presLayoutVars>
      </dgm:prSet>
      <dgm:spPr/>
    </dgm:pt>
    <dgm:pt modelId="{422A342F-3301-4424-B564-DBB114BEDB17}" type="pres">
      <dgm:prSet presAssocID="{26037481-92F7-424D-AF52-2E4035AEAFB0}" presName="hierChild2" presStyleCnt="0"/>
      <dgm:spPr/>
    </dgm:pt>
    <dgm:pt modelId="{1DC4D194-4B4A-4390-99B6-4EFD42260638}" type="pres">
      <dgm:prSet presAssocID="{6B62695A-9E0E-428F-8352-1A5F1E653B81}" presName="hierRoot1" presStyleCnt="0"/>
      <dgm:spPr/>
    </dgm:pt>
    <dgm:pt modelId="{DDD497F6-C719-4FB6-B15A-CBB0771E6BBF}" type="pres">
      <dgm:prSet presAssocID="{6B62695A-9E0E-428F-8352-1A5F1E653B81}" presName="composite" presStyleCnt="0"/>
      <dgm:spPr/>
    </dgm:pt>
    <dgm:pt modelId="{A75F1F68-FDDB-4196-A3E6-644B9CEE1F18}" type="pres">
      <dgm:prSet presAssocID="{6B62695A-9E0E-428F-8352-1A5F1E653B81}" presName="background" presStyleLbl="node0" presStyleIdx="1" presStyleCnt="2"/>
      <dgm:spPr/>
    </dgm:pt>
    <dgm:pt modelId="{08991040-96BB-4AB1-B596-AF391554FB15}" type="pres">
      <dgm:prSet presAssocID="{6B62695A-9E0E-428F-8352-1A5F1E653B81}" presName="text" presStyleLbl="fgAcc0" presStyleIdx="1" presStyleCnt="2">
        <dgm:presLayoutVars>
          <dgm:chPref val="3"/>
        </dgm:presLayoutVars>
      </dgm:prSet>
      <dgm:spPr/>
    </dgm:pt>
    <dgm:pt modelId="{BB704413-91BE-4EEF-9011-56C2BBBF5DCC}" type="pres">
      <dgm:prSet presAssocID="{6B62695A-9E0E-428F-8352-1A5F1E653B81}" presName="hierChild2" presStyleCnt="0"/>
      <dgm:spPr/>
    </dgm:pt>
  </dgm:ptLst>
  <dgm:cxnLst>
    <dgm:cxn modelId="{6BBD5E0E-CABA-4D2C-A348-CBA828373602}" type="presOf" srcId="{6B62695A-9E0E-428F-8352-1A5F1E653B81}" destId="{08991040-96BB-4AB1-B596-AF391554FB15}" srcOrd="0" destOrd="0" presId="urn:microsoft.com/office/officeart/2005/8/layout/hierarchy1"/>
    <dgm:cxn modelId="{1802EF1A-7CB4-4FA9-8E93-24B429C37A08}" srcId="{ECE0718D-8809-41DE-8659-B6FDB5CFC1F9}" destId="{26037481-92F7-424D-AF52-2E4035AEAFB0}" srcOrd="0" destOrd="0" parTransId="{1A41D38C-ABB5-4F37-A1C3-E84C0825C569}" sibTransId="{16F06228-F0C9-4213-A137-2BB4F63F060A}"/>
    <dgm:cxn modelId="{2E27903B-633C-4E6A-981E-C702EE9B6FA4}" srcId="{ECE0718D-8809-41DE-8659-B6FDB5CFC1F9}" destId="{6B62695A-9E0E-428F-8352-1A5F1E653B81}" srcOrd="1" destOrd="0" parTransId="{307D9B55-67AF-4932-A7D3-042B02A216C5}" sibTransId="{6F50EFDA-B14E-4A9B-9769-A45805FFF5E3}"/>
    <dgm:cxn modelId="{78DDD75F-4030-4B4F-BF1A-98B542AED919}" type="presOf" srcId="{ECE0718D-8809-41DE-8659-B6FDB5CFC1F9}" destId="{A300CC4B-EF44-4814-AA04-C4DB5DCC1E8F}" srcOrd="0" destOrd="0" presId="urn:microsoft.com/office/officeart/2005/8/layout/hierarchy1"/>
    <dgm:cxn modelId="{A9A1F547-D8ED-462C-AAAB-C164CC4B58D5}" type="presOf" srcId="{26037481-92F7-424D-AF52-2E4035AEAFB0}" destId="{A69FE2EE-6C26-4126-A153-43559D6F3C3D}" srcOrd="0" destOrd="0" presId="urn:microsoft.com/office/officeart/2005/8/layout/hierarchy1"/>
    <dgm:cxn modelId="{6AC375B3-8FC6-490D-962E-3E8D76D3A9B8}" type="presParOf" srcId="{A300CC4B-EF44-4814-AA04-C4DB5DCC1E8F}" destId="{54CBA632-FA58-4C4E-8A80-0DC79A9F5A58}" srcOrd="0" destOrd="0" presId="urn:microsoft.com/office/officeart/2005/8/layout/hierarchy1"/>
    <dgm:cxn modelId="{B5FDF3B4-E359-4BA0-A9A9-17CC81658A0B}" type="presParOf" srcId="{54CBA632-FA58-4C4E-8A80-0DC79A9F5A58}" destId="{CF421FB9-6920-462B-AADF-5CF74CC845D0}" srcOrd="0" destOrd="0" presId="urn:microsoft.com/office/officeart/2005/8/layout/hierarchy1"/>
    <dgm:cxn modelId="{DA6B05F0-A992-453F-A139-E254FE819922}" type="presParOf" srcId="{CF421FB9-6920-462B-AADF-5CF74CC845D0}" destId="{2AA7C38F-04D5-4EE9-96F7-D2FA8C4240F5}" srcOrd="0" destOrd="0" presId="urn:microsoft.com/office/officeart/2005/8/layout/hierarchy1"/>
    <dgm:cxn modelId="{7D6E3138-C022-4BCD-9C53-ACB2D579D2A9}" type="presParOf" srcId="{CF421FB9-6920-462B-AADF-5CF74CC845D0}" destId="{A69FE2EE-6C26-4126-A153-43559D6F3C3D}" srcOrd="1" destOrd="0" presId="urn:microsoft.com/office/officeart/2005/8/layout/hierarchy1"/>
    <dgm:cxn modelId="{23D3369F-464E-44D8-AF03-47F6FE69A5CB}" type="presParOf" srcId="{54CBA632-FA58-4C4E-8A80-0DC79A9F5A58}" destId="{422A342F-3301-4424-B564-DBB114BEDB17}" srcOrd="1" destOrd="0" presId="urn:microsoft.com/office/officeart/2005/8/layout/hierarchy1"/>
    <dgm:cxn modelId="{88E121A1-2F25-431F-916B-8682772E9852}" type="presParOf" srcId="{A300CC4B-EF44-4814-AA04-C4DB5DCC1E8F}" destId="{1DC4D194-4B4A-4390-99B6-4EFD42260638}" srcOrd="1" destOrd="0" presId="urn:microsoft.com/office/officeart/2005/8/layout/hierarchy1"/>
    <dgm:cxn modelId="{18420BC2-F99F-4004-8DB9-BFAE1D491F2D}" type="presParOf" srcId="{1DC4D194-4B4A-4390-99B6-4EFD42260638}" destId="{DDD497F6-C719-4FB6-B15A-CBB0771E6BBF}" srcOrd="0" destOrd="0" presId="urn:microsoft.com/office/officeart/2005/8/layout/hierarchy1"/>
    <dgm:cxn modelId="{DE3F11BF-F117-472D-AB70-62D9EC4F5D7A}" type="presParOf" srcId="{DDD497F6-C719-4FB6-B15A-CBB0771E6BBF}" destId="{A75F1F68-FDDB-4196-A3E6-644B9CEE1F18}" srcOrd="0" destOrd="0" presId="urn:microsoft.com/office/officeart/2005/8/layout/hierarchy1"/>
    <dgm:cxn modelId="{A0E53148-F0F6-410A-A0F8-1BCF47251C15}" type="presParOf" srcId="{DDD497F6-C719-4FB6-B15A-CBB0771E6BBF}" destId="{08991040-96BB-4AB1-B596-AF391554FB15}" srcOrd="1" destOrd="0" presId="urn:microsoft.com/office/officeart/2005/8/layout/hierarchy1"/>
    <dgm:cxn modelId="{880911F0-9E05-4CD8-AF2F-2E5E182DB4A8}" type="presParOf" srcId="{1DC4D194-4B4A-4390-99B6-4EFD42260638}" destId="{BB704413-91BE-4EEF-9011-56C2BBBF5DC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7B3320-6120-4791-9847-CC57C1F2BF69}"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27DB429A-664F-4632-A033-3D2AA806EBD6}">
      <dgm:prSet/>
      <dgm:spPr/>
      <dgm:t>
        <a:bodyPr/>
        <a:lstStyle/>
        <a:p>
          <a:r>
            <a:rPr lang="en-US"/>
            <a:t>Business intelligence is related to decision making</a:t>
          </a:r>
        </a:p>
      </dgm:t>
    </dgm:pt>
    <dgm:pt modelId="{A5517F12-414F-4131-9BAB-2380B4829D8A}" type="parTrans" cxnId="{3E3C29F2-D85B-4DB4-A375-C1498EE76011}">
      <dgm:prSet/>
      <dgm:spPr/>
      <dgm:t>
        <a:bodyPr/>
        <a:lstStyle/>
        <a:p>
          <a:endParaRPr lang="en-US"/>
        </a:p>
      </dgm:t>
    </dgm:pt>
    <dgm:pt modelId="{BB95C587-F450-4346-BA13-2C6F1C3E02DD}" type="sibTrans" cxnId="{3E3C29F2-D85B-4DB4-A375-C1498EE76011}">
      <dgm:prSet/>
      <dgm:spPr/>
      <dgm:t>
        <a:bodyPr/>
        <a:lstStyle/>
        <a:p>
          <a:endParaRPr lang="en-US"/>
        </a:p>
      </dgm:t>
    </dgm:pt>
    <dgm:pt modelId="{D9FB9DC9-9FFD-4B5A-92CD-D83C230AF9FC}">
      <dgm:prSet/>
      <dgm:spPr/>
      <dgm:t>
        <a:bodyPr/>
        <a:lstStyle/>
        <a:p>
          <a:r>
            <a:rPr lang="en-US"/>
            <a:t>olap.com “The term Business Intelligence (BI) refers to technologies, applications and practices for the collection, integration, analysis, and presentation of business information. The purpose of Business Intelligence is to support better business decision making.”</a:t>
          </a:r>
        </a:p>
      </dgm:t>
    </dgm:pt>
    <dgm:pt modelId="{58423053-77C1-44AC-B8AF-954389054D4A}" type="parTrans" cxnId="{EACC0722-D05E-4A6A-869C-AB3D549B74A8}">
      <dgm:prSet/>
      <dgm:spPr/>
      <dgm:t>
        <a:bodyPr/>
        <a:lstStyle/>
        <a:p>
          <a:endParaRPr lang="en-US"/>
        </a:p>
      </dgm:t>
    </dgm:pt>
    <dgm:pt modelId="{4DD2E923-B229-4E7C-A422-1E638C698208}" type="sibTrans" cxnId="{EACC0722-D05E-4A6A-869C-AB3D549B74A8}">
      <dgm:prSet/>
      <dgm:spPr/>
      <dgm:t>
        <a:bodyPr/>
        <a:lstStyle/>
        <a:p>
          <a:endParaRPr lang="en-US"/>
        </a:p>
      </dgm:t>
    </dgm:pt>
    <dgm:pt modelId="{5EAA9CA9-63CB-43D5-803A-9F5BA870598F}" type="pres">
      <dgm:prSet presAssocID="{A87B3320-6120-4791-9847-CC57C1F2BF69}" presName="hierChild1" presStyleCnt="0">
        <dgm:presLayoutVars>
          <dgm:chPref val="1"/>
          <dgm:dir/>
          <dgm:animOne val="branch"/>
          <dgm:animLvl val="lvl"/>
          <dgm:resizeHandles/>
        </dgm:presLayoutVars>
      </dgm:prSet>
      <dgm:spPr/>
    </dgm:pt>
    <dgm:pt modelId="{E44F9FD8-958C-4CEC-A6EE-2AA61331B353}" type="pres">
      <dgm:prSet presAssocID="{27DB429A-664F-4632-A033-3D2AA806EBD6}" presName="hierRoot1" presStyleCnt="0"/>
      <dgm:spPr/>
    </dgm:pt>
    <dgm:pt modelId="{0AF257FF-ED8F-4CC1-ABD8-A4863ADC78BF}" type="pres">
      <dgm:prSet presAssocID="{27DB429A-664F-4632-A033-3D2AA806EBD6}" presName="composite" presStyleCnt="0"/>
      <dgm:spPr/>
    </dgm:pt>
    <dgm:pt modelId="{D856ED39-1979-4521-8906-ED6D6379EB4C}" type="pres">
      <dgm:prSet presAssocID="{27DB429A-664F-4632-A033-3D2AA806EBD6}" presName="background" presStyleLbl="node0" presStyleIdx="0" presStyleCnt="2"/>
      <dgm:spPr/>
    </dgm:pt>
    <dgm:pt modelId="{6D292F44-DDA0-409E-807A-114FC153C0B9}" type="pres">
      <dgm:prSet presAssocID="{27DB429A-664F-4632-A033-3D2AA806EBD6}" presName="text" presStyleLbl="fgAcc0" presStyleIdx="0" presStyleCnt="2">
        <dgm:presLayoutVars>
          <dgm:chPref val="3"/>
        </dgm:presLayoutVars>
      </dgm:prSet>
      <dgm:spPr/>
    </dgm:pt>
    <dgm:pt modelId="{09DD77E5-4F1F-4730-BF99-45F8D2A59743}" type="pres">
      <dgm:prSet presAssocID="{27DB429A-664F-4632-A033-3D2AA806EBD6}" presName="hierChild2" presStyleCnt="0"/>
      <dgm:spPr/>
    </dgm:pt>
    <dgm:pt modelId="{EB3BE67B-DD60-4092-AC12-0A8554352C42}" type="pres">
      <dgm:prSet presAssocID="{D9FB9DC9-9FFD-4B5A-92CD-D83C230AF9FC}" presName="hierRoot1" presStyleCnt="0"/>
      <dgm:spPr/>
    </dgm:pt>
    <dgm:pt modelId="{D2E6EBA6-0FA4-4CF2-9909-09AFDDBED0E7}" type="pres">
      <dgm:prSet presAssocID="{D9FB9DC9-9FFD-4B5A-92CD-D83C230AF9FC}" presName="composite" presStyleCnt="0"/>
      <dgm:spPr/>
    </dgm:pt>
    <dgm:pt modelId="{F09D7C7A-D5A6-4368-B89A-AC079517F29A}" type="pres">
      <dgm:prSet presAssocID="{D9FB9DC9-9FFD-4B5A-92CD-D83C230AF9FC}" presName="background" presStyleLbl="node0" presStyleIdx="1" presStyleCnt="2"/>
      <dgm:spPr/>
    </dgm:pt>
    <dgm:pt modelId="{52704FAA-55E5-4892-931D-076C94490039}" type="pres">
      <dgm:prSet presAssocID="{D9FB9DC9-9FFD-4B5A-92CD-D83C230AF9FC}" presName="text" presStyleLbl="fgAcc0" presStyleIdx="1" presStyleCnt="2">
        <dgm:presLayoutVars>
          <dgm:chPref val="3"/>
        </dgm:presLayoutVars>
      </dgm:prSet>
      <dgm:spPr/>
    </dgm:pt>
    <dgm:pt modelId="{0633941E-3351-4FF7-B987-8377DECC59A9}" type="pres">
      <dgm:prSet presAssocID="{D9FB9DC9-9FFD-4B5A-92CD-D83C230AF9FC}" presName="hierChild2" presStyleCnt="0"/>
      <dgm:spPr/>
    </dgm:pt>
  </dgm:ptLst>
  <dgm:cxnLst>
    <dgm:cxn modelId="{982A9410-1C3D-4CFD-BC57-BFEC13A6D1C1}" type="presOf" srcId="{D9FB9DC9-9FFD-4B5A-92CD-D83C230AF9FC}" destId="{52704FAA-55E5-4892-931D-076C94490039}" srcOrd="0" destOrd="0" presId="urn:microsoft.com/office/officeart/2005/8/layout/hierarchy1"/>
    <dgm:cxn modelId="{EACC0722-D05E-4A6A-869C-AB3D549B74A8}" srcId="{A87B3320-6120-4791-9847-CC57C1F2BF69}" destId="{D9FB9DC9-9FFD-4B5A-92CD-D83C230AF9FC}" srcOrd="1" destOrd="0" parTransId="{58423053-77C1-44AC-B8AF-954389054D4A}" sibTransId="{4DD2E923-B229-4E7C-A422-1E638C698208}"/>
    <dgm:cxn modelId="{5A1FF351-4C08-4362-BD26-3FE11D0CA6C1}" type="presOf" srcId="{A87B3320-6120-4791-9847-CC57C1F2BF69}" destId="{5EAA9CA9-63CB-43D5-803A-9F5BA870598F}" srcOrd="0" destOrd="0" presId="urn:microsoft.com/office/officeart/2005/8/layout/hierarchy1"/>
    <dgm:cxn modelId="{A3C1D3E2-710A-4FDF-A6D9-9CA3D17AD758}" type="presOf" srcId="{27DB429A-664F-4632-A033-3D2AA806EBD6}" destId="{6D292F44-DDA0-409E-807A-114FC153C0B9}" srcOrd="0" destOrd="0" presId="urn:microsoft.com/office/officeart/2005/8/layout/hierarchy1"/>
    <dgm:cxn modelId="{3E3C29F2-D85B-4DB4-A375-C1498EE76011}" srcId="{A87B3320-6120-4791-9847-CC57C1F2BF69}" destId="{27DB429A-664F-4632-A033-3D2AA806EBD6}" srcOrd="0" destOrd="0" parTransId="{A5517F12-414F-4131-9BAB-2380B4829D8A}" sibTransId="{BB95C587-F450-4346-BA13-2C6F1C3E02DD}"/>
    <dgm:cxn modelId="{A95E3BAC-FD19-4DAB-AAD3-54E05317BE9E}" type="presParOf" srcId="{5EAA9CA9-63CB-43D5-803A-9F5BA870598F}" destId="{E44F9FD8-958C-4CEC-A6EE-2AA61331B353}" srcOrd="0" destOrd="0" presId="urn:microsoft.com/office/officeart/2005/8/layout/hierarchy1"/>
    <dgm:cxn modelId="{5F5787AF-DC89-4FC5-B359-E0BF4E00751C}" type="presParOf" srcId="{E44F9FD8-958C-4CEC-A6EE-2AA61331B353}" destId="{0AF257FF-ED8F-4CC1-ABD8-A4863ADC78BF}" srcOrd="0" destOrd="0" presId="urn:microsoft.com/office/officeart/2005/8/layout/hierarchy1"/>
    <dgm:cxn modelId="{F8B62FA4-F2BC-446A-B50E-F465F76A0A9A}" type="presParOf" srcId="{0AF257FF-ED8F-4CC1-ABD8-A4863ADC78BF}" destId="{D856ED39-1979-4521-8906-ED6D6379EB4C}" srcOrd="0" destOrd="0" presId="urn:microsoft.com/office/officeart/2005/8/layout/hierarchy1"/>
    <dgm:cxn modelId="{42E3446F-B065-4CCE-9591-72C0FC086EBB}" type="presParOf" srcId="{0AF257FF-ED8F-4CC1-ABD8-A4863ADC78BF}" destId="{6D292F44-DDA0-409E-807A-114FC153C0B9}" srcOrd="1" destOrd="0" presId="urn:microsoft.com/office/officeart/2005/8/layout/hierarchy1"/>
    <dgm:cxn modelId="{5D9B78C9-B590-4A52-B0CB-BB3AB4082F3C}" type="presParOf" srcId="{E44F9FD8-958C-4CEC-A6EE-2AA61331B353}" destId="{09DD77E5-4F1F-4730-BF99-45F8D2A59743}" srcOrd="1" destOrd="0" presId="urn:microsoft.com/office/officeart/2005/8/layout/hierarchy1"/>
    <dgm:cxn modelId="{FA10F669-49AD-4B35-90B1-46CAC6CA0C6A}" type="presParOf" srcId="{5EAA9CA9-63CB-43D5-803A-9F5BA870598F}" destId="{EB3BE67B-DD60-4092-AC12-0A8554352C42}" srcOrd="1" destOrd="0" presId="urn:microsoft.com/office/officeart/2005/8/layout/hierarchy1"/>
    <dgm:cxn modelId="{F22D0B12-3814-49BD-9FBF-4686F624F03E}" type="presParOf" srcId="{EB3BE67B-DD60-4092-AC12-0A8554352C42}" destId="{D2E6EBA6-0FA4-4CF2-9909-09AFDDBED0E7}" srcOrd="0" destOrd="0" presId="urn:microsoft.com/office/officeart/2005/8/layout/hierarchy1"/>
    <dgm:cxn modelId="{958A3143-E316-403A-B807-13C5F676D3A1}" type="presParOf" srcId="{D2E6EBA6-0FA4-4CF2-9909-09AFDDBED0E7}" destId="{F09D7C7A-D5A6-4368-B89A-AC079517F29A}" srcOrd="0" destOrd="0" presId="urn:microsoft.com/office/officeart/2005/8/layout/hierarchy1"/>
    <dgm:cxn modelId="{29358D57-2D90-4F68-A042-12C71090DF41}" type="presParOf" srcId="{D2E6EBA6-0FA4-4CF2-9909-09AFDDBED0E7}" destId="{52704FAA-55E5-4892-931D-076C94490039}" srcOrd="1" destOrd="0" presId="urn:microsoft.com/office/officeart/2005/8/layout/hierarchy1"/>
    <dgm:cxn modelId="{370B9F9A-01AC-4684-9FCF-EE809B7CE0B4}" type="presParOf" srcId="{EB3BE67B-DD60-4092-AC12-0A8554352C42}" destId="{0633941E-3351-4FF7-B987-8377DECC59A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7B3320-6120-4791-9847-CC57C1F2BF69}"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D9FB9DC9-9FFD-4B5A-92CD-D83C230AF9FC}">
      <dgm:prSet/>
      <dgm:spPr/>
      <dgm:t>
        <a:bodyPr/>
        <a:lstStyle/>
        <a:p>
          <a:r>
            <a:rPr lang="en-US" b="0" i="0" dirty="0"/>
            <a:t>Power BI is Microsoft's business analytics platform that helps you turn data into actionable insights. Whether you're a business user, report creator, or developer, Power BI offers integrated tools and services to connect, visualize, and share data across your organization.</a:t>
          </a:r>
          <a:endParaRPr lang="en-US" dirty="0"/>
        </a:p>
      </dgm:t>
    </dgm:pt>
    <dgm:pt modelId="{58423053-77C1-44AC-B8AF-954389054D4A}" type="parTrans" cxnId="{EACC0722-D05E-4A6A-869C-AB3D549B74A8}">
      <dgm:prSet/>
      <dgm:spPr/>
      <dgm:t>
        <a:bodyPr/>
        <a:lstStyle/>
        <a:p>
          <a:endParaRPr lang="en-US"/>
        </a:p>
      </dgm:t>
    </dgm:pt>
    <dgm:pt modelId="{4DD2E923-B229-4E7C-A422-1E638C698208}" type="sibTrans" cxnId="{EACC0722-D05E-4A6A-869C-AB3D549B74A8}">
      <dgm:prSet/>
      <dgm:spPr/>
      <dgm:t>
        <a:bodyPr/>
        <a:lstStyle/>
        <a:p>
          <a:endParaRPr lang="en-US"/>
        </a:p>
      </dgm:t>
    </dgm:pt>
    <dgm:pt modelId="{5EAA9CA9-63CB-43D5-803A-9F5BA870598F}" type="pres">
      <dgm:prSet presAssocID="{A87B3320-6120-4791-9847-CC57C1F2BF69}" presName="hierChild1" presStyleCnt="0">
        <dgm:presLayoutVars>
          <dgm:chPref val="1"/>
          <dgm:dir/>
          <dgm:animOne val="branch"/>
          <dgm:animLvl val="lvl"/>
          <dgm:resizeHandles/>
        </dgm:presLayoutVars>
      </dgm:prSet>
      <dgm:spPr/>
    </dgm:pt>
    <dgm:pt modelId="{EB3BE67B-DD60-4092-AC12-0A8554352C42}" type="pres">
      <dgm:prSet presAssocID="{D9FB9DC9-9FFD-4B5A-92CD-D83C230AF9FC}" presName="hierRoot1" presStyleCnt="0"/>
      <dgm:spPr/>
    </dgm:pt>
    <dgm:pt modelId="{D2E6EBA6-0FA4-4CF2-9909-09AFDDBED0E7}" type="pres">
      <dgm:prSet presAssocID="{D9FB9DC9-9FFD-4B5A-92CD-D83C230AF9FC}" presName="composite" presStyleCnt="0"/>
      <dgm:spPr/>
    </dgm:pt>
    <dgm:pt modelId="{F09D7C7A-D5A6-4368-B89A-AC079517F29A}" type="pres">
      <dgm:prSet presAssocID="{D9FB9DC9-9FFD-4B5A-92CD-D83C230AF9FC}" presName="background" presStyleLbl="node0" presStyleIdx="0" presStyleCnt="1"/>
      <dgm:spPr/>
    </dgm:pt>
    <dgm:pt modelId="{52704FAA-55E5-4892-931D-076C94490039}" type="pres">
      <dgm:prSet presAssocID="{D9FB9DC9-9FFD-4B5A-92CD-D83C230AF9FC}" presName="text" presStyleLbl="fgAcc0" presStyleIdx="0" presStyleCnt="1">
        <dgm:presLayoutVars>
          <dgm:chPref val="3"/>
        </dgm:presLayoutVars>
      </dgm:prSet>
      <dgm:spPr/>
    </dgm:pt>
    <dgm:pt modelId="{0633941E-3351-4FF7-B987-8377DECC59A9}" type="pres">
      <dgm:prSet presAssocID="{D9FB9DC9-9FFD-4B5A-92CD-D83C230AF9FC}" presName="hierChild2" presStyleCnt="0"/>
      <dgm:spPr/>
    </dgm:pt>
  </dgm:ptLst>
  <dgm:cxnLst>
    <dgm:cxn modelId="{982A9410-1C3D-4CFD-BC57-BFEC13A6D1C1}" type="presOf" srcId="{D9FB9DC9-9FFD-4B5A-92CD-D83C230AF9FC}" destId="{52704FAA-55E5-4892-931D-076C94490039}" srcOrd="0" destOrd="0" presId="urn:microsoft.com/office/officeart/2005/8/layout/hierarchy1"/>
    <dgm:cxn modelId="{EACC0722-D05E-4A6A-869C-AB3D549B74A8}" srcId="{A87B3320-6120-4791-9847-CC57C1F2BF69}" destId="{D9FB9DC9-9FFD-4B5A-92CD-D83C230AF9FC}" srcOrd="0" destOrd="0" parTransId="{58423053-77C1-44AC-B8AF-954389054D4A}" sibTransId="{4DD2E923-B229-4E7C-A422-1E638C698208}"/>
    <dgm:cxn modelId="{5A1FF351-4C08-4362-BD26-3FE11D0CA6C1}" type="presOf" srcId="{A87B3320-6120-4791-9847-CC57C1F2BF69}" destId="{5EAA9CA9-63CB-43D5-803A-9F5BA870598F}" srcOrd="0" destOrd="0" presId="urn:microsoft.com/office/officeart/2005/8/layout/hierarchy1"/>
    <dgm:cxn modelId="{FA10F669-49AD-4B35-90B1-46CAC6CA0C6A}" type="presParOf" srcId="{5EAA9CA9-63CB-43D5-803A-9F5BA870598F}" destId="{EB3BE67B-DD60-4092-AC12-0A8554352C42}" srcOrd="0" destOrd="0" presId="urn:microsoft.com/office/officeart/2005/8/layout/hierarchy1"/>
    <dgm:cxn modelId="{F22D0B12-3814-49BD-9FBF-4686F624F03E}" type="presParOf" srcId="{EB3BE67B-DD60-4092-AC12-0A8554352C42}" destId="{D2E6EBA6-0FA4-4CF2-9909-09AFDDBED0E7}" srcOrd="0" destOrd="0" presId="urn:microsoft.com/office/officeart/2005/8/layout/hierarchy1"/>
    <dgm:cxn modelId="{958A3143-E316-403A-B807-13C5F676D3A1}" type="presParOf" srcId="{D2E6EBA6-0FA4-4CF2-9909-09AFDDBED0E7}" destId="{F09D7C7A-D5A6-4368-B89A-AC079517F29A}" srcOrd="0" destOrd="0" presId="urn:microsoft.com/office/officeart/2005/8/layout/hierarchy1"/>
    <dgm:cxn modelId="{29358D57-2D90-4F68-A042-12C71090DF41}" type="presParOf" srcId="{D2E6EBA6-0FA4-4CF2-9909-09AFDDBED0E7}" destId="{52704FAA-55E5-4892-931D-076C94490039}" srcOrd="1" destOrd="0" presId="urn:microsoft.com/office/officeart/2005/8/layout/hierarchy1"/>
    <dgm:cxn modelId="{370B9F9A-01AC-4684-9FCF-EE809B7CE0B4}" type="presParOf" srcId="{EB3BE67B-DD60-4092-AC12-0A8554352C42}" destId="{0633941E-3351-4FF7-B987-8377DECC59A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A7C38F-04D5-4EE9-96F7-D2FA8C4240F5}">
      <dsp:nvSpPr>
        <dsp:cNvPr id="0" name=""/>
        <dsp:cNvSpPr/>
      </dsp:nvSpPr>
      <dsp:spPr>
        <a:xfrm>
          <a:off x="1711" y="676467"/>
          <a:ext cx="6007447" cy="3814729"/>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A69FE2EE-6C26-4126-A153-43559D6F3C3D}">
      <dsp:nvSpPr>
        <dsp:cNvPr id="0" name=""/>
        <dsp:cNvSpPr/>
      </dsp:nvSpPr>
      <dsp:spPr>
        <a:xfrm>
          <a:off x="669205" y="1310587"/>
          <a:ext cx="6007447" cy="381472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Wikipedia “Data is a set of values of qualitative or quantitative variables. Data and information are often used interchangeably”</a:t>
          </a:r>
        </a:p>
      </dsp:txBody>
      <dsp:txXfrm>
        <a:off x="780935" y="1422317"/>
        <a:ext cx="5783987" cy="3591269"/>
      </dsp:txXfrm>
    </dsp:sp>
    <dsp:sp modelId="{A75F1F68-FDDB-4196-A3E6-644B9CEE1F18}">
      <dsp:nvSpPr>
        <dsp:cNvPr id="0" name=""/>
        <dsp:cNvSpPr/>
      </dsp:nvSpPr>
      <dsp:spPr>
        <a:xfrm>
          <a:off x="7344147" y="676467"/>
          <a:ext cx="6007447" cy="3814729"/>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08991040-96BB-4AB1-B596-AF391554FB15}">
      <dsp:nvSpPr>
        <dsp:cNvPr id="0" name=""/>
        <dsp:cNvSpPr/>
      </dsp:nvSpPr>
      <dsp:spPr>
        <a:xfrm>
          <a:off x="8011641" y="1310587"/>
          <a:ext cx="6007447" cy="381472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Data is collected to provide information. Data can be structure, unstructured or semi structured. We are generating data every moment, any action we do may be creating data</a:t>
          </a:r>
        </a:p>
      </dsp:txBody>
      <dsp:txXfrm>
        <a:off x="8123371" y="1422317"/>
        <a:ext cx="5783987" cy="35912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56ED39-1979-4521-8906-ED6D6379EB4C}">
      <dsp:nvSpPr>
        <dsp:cNvPr id="0" name=""/>
        <dsp:cNvSpPr/>
      </dsp:nvSpPr>
      <dsp:spPr>
        <a:xfrm>
          <a:off x="1778" y="147977"/>
          <a:ext cx="6242949" cy="39642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292F44-DDA0-409E-807A-114FC153C0B9}">
      <dsp:nvSpPr>
        <dsp:cNvPr id="0" name=""/>
        <dsp:cNvSpPr/>
      </dsp:nvSpPr>
      <dsp:spPr>
        <a:xfrm>
          <a:off x="695439" y="806955"/>
          <a:ext cx="6242949" cy="39642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Business intelligence is related to decision making</a:t>
          </a:r>
        </a:p>
      </dsp:txBody>
      <dsp:txXfrm>
        <a:off x="811549" y="923065"/>
        <a:ext cx="6010729" cy="3732052"/>
      </dsp:txXfrm>
    </dsp:sp>
    <dsp:sp modelId="{F09D7C7A-D5A6-4368-B89A-AC079517F29A}">
      <dsp:nvSpPr>
        <dsp:cNvPr id="0" name=""/>
        <dsp:cNvSpPr/>
      </dsp:nvSpPr>
      <dsp:spPr>
        <a:xfrm>
          <a:off x="7632050" y="147977"/>
          <a:ext cx="6242949" cy="39642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704FAA-55E5-4892-931D-076C94490039}">
      <dsp:nvSpPr>
        <dsp:cNvPr id="0" name=""/>
        <dsp:cNvSpPr/>
      </dsp:nvSpPr>
      <dsp:spPr>
        <a:xfrm>
          <a:off x="8325711" y="806955"/>
          <a:ext cx="6242949" cy="396427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olap.com “The term Business Intelligence (BI) refers to technologies, applications and practices for the collection, integration, analysis, and presentation of business information. The purpose of Business Intelligence is to support better business decision making.”</a:t>
          </a:r>
        </a:p>
      </dsp:txBody>
      <dsp:txXfrm>
        <a:off x="8441821" y="923065"/>
        <a:ext cx="6010729" cy="37320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D7C7A-D5A6-4368-B89A-AC079517F29A}">
      <dsp:nvSpPr>
        <dsp:cNvPr id="0" name=""/>
        <dsp:cNvSpPr/>
      </dsp:nvSpPr>
      <dsp:spPr>
        <a:xfrm>
          <a:off x="3599922" y="3352"/>
          <a:ext cx="6633533" cy="42122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704FAA-55E5-4892-931D-076C94490039}">
      <dsp:nvSpPr>
        <dsp:cNvPr id="0" name=""/>
        <dsp:cNvSpPr/>
      </dsp:nvSpPr>
      <dsp:spPr>
        <a:xfrm>
          <a:off x="4336982" y="703559"/>
          <a:ext cx="6633533" cy="421229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0" i="0" kern="1200" dirty="0"/>
            <a:t>Power BI is Microsoft's business analytics platform that helps you turn data into actionable insights. Whether you're a business user, report creator, or developer, Power BI offers integrated tools and services to connect, visualize, and share data across your organization.</a:t>
          </a:r>
          <a:endParaRPr lang="en-US" sz="3300" kern="1200" dirty="0"/>
        </a:p>
      </dsp:txBody>
      <dsp:txXfrm>
        <a:off x="4460356" y="826933"/>
        <a:ext cx="6386785" cy="396554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8CF77-2937-4BBB-A774-C64AE2BF282C}" type="datetimeFigureOut">
              <a:rPr lang="en-IN" smtClean="0"/>
              <a:t>21-04-2026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768BD-085F-460F-BDDC-60DE9B01B00A}" type="slidenum">
              <a:rPr lang="en-IN" smtClean="0"/>
              <a:t>‹#›</a:t>
            </a:fld>
            <a:endParaRPr lang="en-IN"/>
          </a:p>
        </p:txBody>
      </p:sp>
    </p:spTree>
    <p:extLst>
      <p:ext uri="{BB962C8B-B14F-4D97-AF65-F5344CB8AC3E}">
        <p14:creationId xmlns:p14="http://schemas.microsoft.com/office/powerpoint/2010/main" val="1157931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2_Large Number Divider 1">
    <p:bg>
      <p:bgPr>
        <a:solidFill>
          <a:schemeClr val="tx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1025EDE9-3B05-7230-5E33-33D3F2B4E520}"/>
              </a:ext>
            </a:extLst>
          </p:cNvPr>
          <p:cNvPicPr>
            <a:picLocks noChangeAspect="1"/>
          </p:cNvPicPr>
          <p:nvPr userDrawn="1"/>
        </p:nvPicPr>
        <p:blipFill>
          <a:blip r:embed="rId2">
            <a:alphaModFix amt="45000"/>
          </a:blip>
          <a:stretch>
            <a:fillRect/>
          </a:stretch>
        </p:blipFill>
        <p:spPr>
          <a:xfrm rot="10800000">
            <a:off x="0" y="690880"/>
            <a:ext cx="16256000" cy="8453120"/>
          </a:xfrm>
          <a:prstGeom prst="rect">
            <a:avLst/>
          </a:prstGeom>
        </p:spPr>
      </p:pic>
    </p:spTree>
    <p:extLst>
      <p:ext uri="{BB962C8B-B14F-4D97-AF65-F5344CB8AC3E}">
        <p14:creationId xmlns:p14="http://schemas.microsoft.com/office/powerpoint/2010/main" val="328309816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5633BB-C497-7235-FD92-0B26F09123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6383000" cy="9144000"/>
          </a:xfrm>
          <a:prstGeom prst="rect">
            <a:avLst/>
          </a:prstGeom>
        </p:spPr>
      </p:pic>
    </p:spTree>
    <p:extLst>
      <p:ext uri="{BB962C8B-B14F-4D97-AF65-F5344CB8AC3E}">
        <p14:creationId xmlns:p14="http://schemas.microsoft.com/office/powerpoint/2010/main" val="915148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7E45BD34-E7EA-C2D1-EA19-29FDAFCE33CD}"/>
              </a:ext>
            </a:extLst>
          </p:cNvPr>
          <p:cNvSpPr txBox="1"/>
          <p:nvPr/>
        </p:nvSpPr>
        <p:spPr>
          <a:xfrm>
            <a:off x="-1490134" y="377206"/>
            <a:ext cx="10092267" cy="1116011"/>
          </a:xfrm>
          <a:prstGeom prst="rect">
            <a:avLst/>
          </a:prstGeom>
        </p:spPr>
        <p:txBody>
          <a:bodyPr wrap="square" lIns="0" tIns="0" rIns="0" bIns="0" rtlCol="0" anchor="t">
            <a:spAutoFit/>
          </a:bodyPr>
          <a:lstStyle/>
          <a:p>
            <a:pPr algn="ctr">
              <a:lnSpc>
                <a:spcPts val="8610"/>
              </a:lnSpc>
            </a:pPr>
            <a:r>
              <a:rPr lang="en-US" sz="8533" b="1" dirty="0">
                <a:solidFill>
                  <a:srgbClr val="083E30"/>
                </a:solidFill>
                <a:latin typeface="+mj-lt"/>
              </a:rPr>
              <a:t>Amit Chandak</a:t>
            </a:r>
          </a:p>
        </p:txBody>
      </p:sp>
      <p:pic>
        <p:nvPicPr>
          <p:cNvPr id="3" name="Picture 2">
            <a:extLst>
              <a:ext uri="{FF2B5EF4-FFF2-40B4-BE49-F238E27FC236}">
                <a16:creationId xmlns:a16="http://schemas.microsoft.com/office/drawing/2014/main" id="{CFD4BEF3-89EE-37AA-8405-F7867251A5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720999"/>
            <a:ext cx="7416228" cy="7416228"/>
          </a:xfrm>
          <a:prstGeom prst="rect">
            <a:avLst/>
          </a:prstGeom>
        </p:spPr>
      </p:pic>
      <p:sp>
        <p:nvSpPr>
          <p:cNvPr id="4" name="Freeform 4">
            <a:extLst>
              <a:ext uri="{FF2B5EF4-FFF2-40B4-BE49-F238E27FC236}">
                <a16:creationId xmlns:a16="http://schemas.microsoft.com/office/drawing/2014/main" id="{6D21AB42-6DA1-99D2-2814-8A9C6115837B}"/>
              </a:ext>
            </a:extLst>
          </p:cNvPr>
          <p:cNvSpPr/>
          <p:nvPr/>
        </p:nvSpPr>
        <p:spPr>
          <a:xfrm>
            <a:off x="14211666" y="237067"/>
            <a:ext cx="1656367" cy="1634596"/>
          </a:xfrm>
          <a:custGeom>
            <a:avLst/>
            <a:gdLst/>
            <a:ahLst/>
            <a:cxnLst/>
            <a:rect l="l" t="t" r="r" b="b"/>
            <a:pathLst>
              <a:path w="1786954" h="1786954">
                <a:moveTo>
                  <a:pt x="0" y="0"/>
                </a:moveTo>
                <a:lnTo>
                  <a:pt x="1786954" y="0"/>
                </a:lnTo>
                <a:lnTo>
                  <a:pt x="1786954" y="1786954"/>
                </a:lnTo>
                <a:lnTo>
                  <a:pt x="0" y="1786954"/>
                </a:lnTo>
                <a:lnTo>
                  <a:pt x="0" y="0"/>
                </a:lnTo>
                <a:close/>
              </a:path>
            </a:pathLst>
          </a:custGeom>
          <a:blipFill>
            <a:blip r:embed="rId3"/>
            <a:stretch>
              <a:fillRect/>
            </a:stretch>
          </a:blipFill>
        </p:spPr>
        <p:txBody>
          <a:bodyPr/>
          <a:lstStyle/>
          <a:p>
            <a:endParaRPr lang="en-IN" sz="1601" dirty="0"/>
          </a:p>
        </p:txBody>
      </p:sp>
      <p:sp>
        <p:nvSpPr>
          <p:cNvPr id="5" name="TextBox 5">
            <a:extLst>
              <a:ext uri="{FF2B5EF4-FFF2-40B4-BE49-F238E27FC236}">
                <a16:creationId xmlns:a16="http://schemas.microsoft.com/office/drawing/2014/main" id="{9E1DDFD5-C635-BF20-4551-B5A396316A22}"/>
              </a:ext>
            </a:extLst>
          </p:cNvPr>
          <p:cNvSpPr txBox="1"/>
          <p:nvPr/>
        </p:nvSpPr>
        <p:spPr>
          <a:xfrm>
            <a:off x="5586867" y="664831"/>
            <a:ext cx="10092267" cy="492443"/>
          </a:xfrm>
          <a:prstGeom prst="rect">
            <a:avLst/>
          </a:prstGeom>
        </p:spPr>
        <p:txBody>
          <a:bodyPr wrap="square" lIns="0" tIns="0" rIns="0" bIns="0" rtlCol="0" anchor="t">
            <a:spAutoFit/>
          </a:bodyPr>
          <a:lstStyle/>
          <a:p>
            <a:pPr algn="ctr"/>
            <a:r>
              <a:rPr lang="en-US" sz="3200" b="1" dirty="0">
                <a:solidFill>
                  <a:srgbClr val="083E30"/>
                </a:solidFill>
                <a:latin typeface="+mj-lt"/>
              </a:rPr>
              <a:t>Learn Power BI</a:t>
            </a:r>
            <a:endParaRPr lang="en-US" sz="2489" b="1" dirty="0">
              <a:solidFill>
                <a:srgbClr val="083E30"/>
              </a:solidFill>
              <a:latin typeface="+mj-lt"/>
            </a:endParaRPr>
          </a:p>
        </p:txBody>
      </p:sp>
      <p:sp>
        <p:nvSpPr>
          <p:cNvPr id="6" name="TextBox 5">
            <a:extLst>
              <a:ext uri="{FF2B5EF4-FFF2-40B4-BE49-F238E27FC236}">
                <a16:creationId xmlns:a16="http://schemas.microsoft.com/office/drawing/2014/main" id="{F49279A8-E7B0-C46D-423C-1B36E0D10049}"/>
              </a:ext>
            </a:extLst>
          </p:cNvPr>
          <p:cNvSpPr txBox="1"/>
          <p:nvPr/>
        </p:nvSpPr>
        <p:spPr>
          <a:xfrm>
            <a:off x="5955220" y="1801467"/>
            <a:ext cx="8813697" cy="2681375"/>
          </a:xfrm>
          <a:prstGeom prst="rect">
            <a:avLst/>
          </a:prstGeom>
        </p:spPr>
        <p:txBody>
          <a:bodyPr wrap="square" lIns="0" tIns="0" rIns="0" bIns="0" rtlCol="0" anchor="t">
            <a:spAutoFit/>
          </a:bodyPr>
          <a:lstStyle/>
          <a:p>
            <a:pPr marL="152404" indent="-152404">
              <a:buFont typeface="Arial" panose="020B0604020202020204" pitchFamily="34" charset="0"/>
              <a:buChar char="•"/>
            </a:pPr>
            <a:r>
              <a:rPr lang="en-US" sz="2489" b="1" dirty="0">
                <a:solidFill>
                  <a:srgbClr val="083E30"/>
                </a:solidFill>
                <a:latin typeface="+mj-lt"/>
              </a:rPr>
              <a:t>Data Platform-MVP</a:t>
            </a:r>
          </a:p>
          <a:p>
            <a:pPr marL="152404" indent="-152404">
              <a:buFont typeface="Arial" panose="020B0604020202020204" pitchFamily="34" charset="0"/>
              <a:buChar char="•"/>
            </a:pPr>
            <a:r>
              <a:rPr lang="en-US" sz="2489" b="1" dirty="0">
                <a:solidFill>
                  <a:srgbClr val="083E30"/>
                </a:solidFill>
                <a:latin typeface="+mj-lt"/>
              </a:rPr>
              <a:t>Power BI community Super User</a:t>
            </a:r>
          </a:p>
          <a:p>
            <a:pPr marL="152404" indent="-152404">
              <a:buFont typeface="Arial" panose="020B0604020202020204" pitchFamily="34" charset="0"/>
              <a:buChar char="•"/>
            </a:pPr>
            <a:r>
              <a:rPr lang="en-US" sz="2489" b="1" dirty="0">
                <a:solidFill>
                  <a:srgbClr val="083E30"/>
                </a:solidFill>
                <a:latin typeface="+mj-lt"/>
              </a:rPr>
              <a:t>YouTuber</a:t>
            </a:r>
          </a:p>
          <a:p>
            <a:pPr marL="152404" indent="-152404">
              <a:buFont typeface="Arial" panose="020B0604020202020204" pitchFamily="34" charset="0"/>
              <a:buChar char="•"/>
            </a:pPr>
            <a:r>
              <a:rPr lang="en-US" sz="2489" b="1" dirty="0">
                <a:solidFill>
                  <a:srgbClr val="083E30"/>
                </a:solidFill>
              </a:rPr>
              <a:t>BIWorld.in  </a:t>
            </a:r>
          </a:p>
          <a:p>
            <a:pPr marL="152404" indent="-152404">
              <a:buFont typeface="Arial" panose="020B0604020202020204" pitchFamily="34" charset="0"/>
              <a:buChar char="•"/>
            </a:pPr>
            <a:r>
              <a:rPr lang="en-US" sz="2489" b="1" dirty="0">
                <a:solidFill>
                  <a:srgbClr val="083E30"/>
                </a:solidFill>
                <a:latin typeface="+mj-lt"/>
              </a:rPr>
              <a:t>CAO- Kanerika</a:t>
            </a:r>
          </a:p>
          <a:p>
            <a:pPr marL="152404" indent="-152404">
              <a:buFont typeface="Arial" panose="020B0604020202020204" pitchFamily="34" charset="0"/>
              <a:buChar char="•"/>
            </a:pPr>
            <a:r>
              <a:rPr lang="en-US" sz="2489" b="1" dirty="0">
                <a:solidFill>
                  <a:srgbClr val="083E30"/>
                </a:solidFill>
                <a:latin typeface="+mj-lt"/>
              </a:rPr>
              <a:t>https://www.linkedin.com/in/amitchandak78/</a:t>
            </a:r>
          </a:p>
          <a:p>
            <a:pPr marL="152404" indent="-152404">
              <a:buFont typeface="Arial" panose="020B0604020202020204" pitchFamily="34" charset="0"/>
              <a:buChar char="•"/>
            </a:pPr>
            <a:endParaRPr lang="en-US" sz="2489" b="1" dirty="0">
              <a:solidFill>
                <a:srgbClr val="083E30"/>
              </a:solidFill>
              <a:latin typeface="+mj-lt"/>
            </a:endParaRPr>
          </a:p>
        </p:txBody>
      </p:sp>
      <p:pic>
        <p:nvPicPr>
          <p:cNvPr id="7" name="Picture 6" descr="A qr code with black squares&#10;&#10;Description automatically generated">
            <a:extLst>
              <a:ext uri="{FF2B5EF4-FFF2-40B4-BE49-F238E27FC236}">
                <a16:creationId xmlns:a16="http://schemas.microsoft.com/office/drawing/2014/main" id="{3FF5779F-CD9C-FF3D-F572-6C7F37F04A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2832" y="5560096"/>
            <a:ext cx="3577131" cy="3577131"/>
          </a:xfrm>
          <a:prstGeom prst="rect">
            <a:avLst/>
          </a:prstGeom>
        </p:spPr>
      </p:pic>
      <p:pic>
        <p:nvPicPr>
          <p:cNvPr id="8" name="Picture 7">
            <a:extLst>
              <a:ext uri="{FF2B5EF4-FFF2-40B4-BE49-F238E27FC236}">
                <a16:creationId xmlns:a16="http://schemas.microsoft.com/office/drawing/2014/main" id="{BE6333F3-730A-DBB7-BCBF-2CE58583848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26876" y="5640564"/>
            <a:ext cx="3577131" cy="3577131"/>
          </a:xfrm>
          <a:prstGeom prst="rect">
            <a:avLst/>
          </a:prstGeom>
        </p:spPr>
      </p:pic>
      <p:pic>
        <p:nvPicPr>
          <p:cNvPr id="9" name="Picture 8">
            <a:extLst>
              <a:ext uri="{FF2B5EF4-FFF2-40B4-BE49-F238E27FC236}">
                <a16:creationId xmlns:a16="http://schemas.microsoft.com/office/drawing/2014/main" id="{258D5B72-1205-519E-2F1D-89174EC2321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768763" y="2121941"/>
            <a:ext cx="3307172" cy="3307172"/>
          </a:xfrm>
          <a:prstGeom prst="rect">
            <a:avLst/>
          </a:prstGeom>
        </p:spPr>
      </p:pic>
    </p:spTree>
    <p:extLst>
      <p:ext uri="{BB962C8B-B14F-4D97-AF65-F5344CB8AC3E}">
        <p14:creationId xmlns:p14="http://schemas.microsoft.com/office/powerpoint/2010/main" val="320630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2"/>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grpId="0" nodeType="clickEffect">
                                  <p:stCondLst>
                                    <p:cond delay="0"/>
                                  </p:stCondLst>
                                  <p:iterate type="lt">
                                    <p:tmPct val="4000"/>
                                  </p:iterate>
                                  <p:childTnLst>
                                    <p:set>
                                      <p:cBhvr override="childStyle">
                                        <p:cTn id="10" dur="500" fill="hold"/>
                                        <p:tgtEl>
                                          <p:spTgt spid="5"/>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grpId="0" nodeType="clickEffect">
                                  <p:stCondLst>
                                    <p:cond delay="0"/>
                                  </p:stCondLst>
                                  <p:iterate type="lt">
                                    <p:tmPct val="4000"/>
                                  </p:iterate>
                                  <p:childTnLst>
                                    <p:set>
                                      <p:cBhvr override="childStyle">
                                        <p:cTn id="14" dur="500" fill="hold"/>
                                        <p:tgtEl>
                                          <p:spTgt spid="6"/>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in a suit&#10;&#10;AI-generated content may be incorrect.">
            <a:extLst>
              <a:ext uri="{FF2B5EF4-FFF2-40B4-BE49-F238E27FC236}">
                <a16:creationId xmlns:a16="http://schemas.microsoft.com/office/drawing/2014/main" id="{FB15DFA4-55D8-F7BC-7A0E-AC8289D330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467" y="0"/>
            <a:ext cx="9144000" cy="9144000"/>
          </a:xfrm>
          <a:prstGeom prst="rect">
            <a:avLst/>
          </a:prstGeom>
        </p:spPr>
      </p:pic>
      <p:pic>
        <p:nvPicPr>
          <p:cNvPr id="5" name="Picture 4" descr="A person in a suit&#10;&#10;AI-generated content may be incorrect.">
            <a:extLst>
              <a:ext uri="{FF2B5EF4-FFF2-40B4-BE49-F238E27FC236}">
                <a16:creationId xmlns:a16="http://schemas.microsoft.com/office/drawing/2014/main" id="{7E790C81-A40A-4C76-EAA7-70BE90B14B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9003" y="0"/>
            <a:ext cx="7314420" cy="9144000"/>
          </a:xfrm>
          <a:prstGeom prst="rect">
            <a:avLst/>
          </a:prstGeom>
        </p:spPr>
      </p:pic>
      <p:pic>
        <p:nvPicPr>
          <p:cNvPr id="2" name="Picture 1">
            <a:extLst>
              <a:ext uri="{FF2B5EF4-FFF2-40B4-BE49-F238E27FC236}">
                <a16:creationId xmlns:a16="http://schemas.microsoft.com/office/drawing/2014/main" id="{AF7759E3-CE0D-1C1D-19E7-AEC1D1CABF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4731854"/>
            <a:ext cx="1798097" cy="1798097"/>
          </a:xfrm>
          <a:prstGeom prst="rect">
            <a:avLst/>
          </a:prstGeom>
        </p:spPr>
      </p:pic>
      <p:pic>
        <p:nvPicPr>
          <p:cNvPr id="4" name="Picture 3" descr="A qr code with black squares&#10;&#10;Description automatically generated">
            <a:extLst>
              <a:ext uri="{FF2B5EF4-FFF2-40B4-BE49-F238E27FC236}">
                <a16:creationId xmlns:a16="http://schemas.microsoft.com/office/drawing/2014/main" id="{423FCBD6-80E5-9094-8061-F9E03FA4ED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150516" y="0"/>
            <a:ext cx="2082907" cy="2082907"/>
          </a:xfrm>
          <a:prstGeom prst="rect">
            <a:avLst/>
          </a:prstGeom>
        </p:spPr>
      </p:pic>
    </p:spTree>
    <p:extLst>
      <p:ext uri="{BB962C8B-B14F-4D97-AF65-F5344CB8AC3E}">
        <p14:creationId xmlns:p14="http://schemas.microsoft.com/office/powerpoint/2010/main" val="207975510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7B708-F9AE-8D2D-3953-C5699BC15E6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10948CF-376A-BA63-A374-DD5CBF02757F}"/>
              </a:ext>
            </a:extLst>
          </p:cNvPr>
          <p:cNvSpPr>
            <a:spLocks noGrp="1"/>
          </p:cNvSpPr>
          <p:nvPr>
            <p:ph type="title"/>
          </p:nvPr>
        </p:nvSpPr>
        <p:spPr>
          <a:xfrm>
            <a:off x="1117600" y="486839"/>
            <a:ext cx="14020800" cy="1767416"/>
          </a:xfrm>
        </p:spPr>
        <p:txBody>
          <a:bodyPr>
            <a:normAutofit/>
          </a:bodyPr>
          <a:lstStyle/>
          <a:p>
            <a:r>
              <a:rPr lang="en-US" sz="6533" b="1">
                <a:solidFill>
                  <a:srgbClr val="029676">
                    <a:lumMod val="75000"/>
                  </a:srgbClr>
                </a:solidFill>
                <a:latin typeface="Aptos Display" panose="02110004020202020204"/>
              </a:rPr>
              <a:t>Join Us</a:t>
            </a:r>
            <a:endParaRPr lang="en-IN" dirty="0"/>
          </a:p>
        </p:txBody>
      </p:sp>
      <p:sp>
        <p:nvSpPr>
          <p:cNvPr id="15" name="TextBox 14">
            <a:extLst>
              <a:ext uri="{FF2B5EF4-FFF2-40B4-BE49-F238E27FC236}">
                <a16:creationId xmlns:a16="http://schemas.microsoft.com/office/drawing/2014/main" id="{E3C8744D-7FEC-8139-8485-52EC0EEB6241}"/>
              </a:ext>
            </a:extLst>
          </p:cNvPr>
          <p:cNvSpPr txBox="1"/>
          <p:nvPr/>
        </p:nvSpPr>
        <p:spPr>
          <a:xfrm>
            <a:off x="10274983" y="7139655"/>
            <a:ext cx="4332839" cy="666786"/>
          </a:xfrm>
          <a:prstGeom prst="rect">
            <a:avLst/>
          </a:prstGeom>
          <a:noFill/>
        </p:spPr>
        <p:txBody>
          <a:bodyPr wrap="square" rtlCol="0">
            <a:spAutoFit/>
          </a:bodyPr>
          <a:lstStyle>
            <a:defPPr>
              <a:defRPr lang="en-US"/>
            </a:defPPr>
            <a:lvl1pPr>
              <a:defRPr sz="2800">
                <a:solidFill>
                  <a:schemeClr val="bg1"/>
                </a:solidFill>
              </a:defRPr>
            </a:lvl1pPr>
          </a:lstStyle>
          <a:p>
            <a:r>
              <a:rPr lang="en-IN" sz="3733" dirty="0">
                <a:solidFill>
                  <a:schemeClr val="tx1"/>
                </a:solidFill>
              </a:rPr>
              <a:t>India Fabric Group</a:t>
            </a:r>
          </a:p>
        </p:txBody>
      </p:sp>
      <p:pic>
        <p:nvPicPr>
          <p:cNvPr id="10" name="Picture 9" descr="A qr code with a black background&#10;&#10;AI-generated content may be incorrect.">
            <a:extLst>
              <a:ext uri="{FF2B5EF4-FFF2-40B4-BE49-F238E27FC236}">
                <a16:creationId xmlns:a16="http://schemas.microsoft.com/office/drawing/2014/main" id="{1926D072-BA98-9AC9-1B81-4574031326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1784" y="2524784"/>
            <a:ext cx="4225808" cy="4225808"/>
          </a:xfrm>
          <a:prstGeom prst="rect">
            <a:avLst/>
          </a:prstGeom>
        </p:spPr>
      </p:pic>
      <p:pic>
        <p:nvPicPr>
          <p:cNvPr id="3" name="Picture 2">
            <a:extLst>
              <a:ext uri="{FF2B5EF4-FFF2-40B4-BE49-F238E27FC236}">
                <a16:creationId xmlns:a16="http://schemas.microsoft.com/office/drawing/2014/main" id="{A909CA53-7F04-F6C4-6135-BD1FC480F7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2057400"/>
            <a:ext cx="6096000" cy="6037101"/>
          </a:xfrm>
          <a:prstGeom prst="rect">
            <a:avLst/>
          </a:prstGeom>
        </p:spPr>
      </p:pic>
    </p:spTree>
    <p:extLst>
      <p:ext uri="{BB962C8B-B14F-4D97-AF65-F5344CB8AC3E}">
        <p14:creationId xmlns:p14="http://schemas.microsoft.com/office/powerpoint/2010/main" val="3013265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 name="Rectangle 20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7" name="Rectangle 20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1936"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80112" y="1880109"/>
            <a:ext cx="9144000" cy="5383781"/>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80113" y="1893625"/>
            <a:ext cx="9143999" cy="5383785"/>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23897" y="4784113"/>
            <a:ext cx="3335972" cy="5383788"/>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1" name="Freeform: Shape 21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668982" y="1292957"/>
            <a:ext cx="5200475" cy="5571944"/>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2" name="Rectangle 21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80124" y="1866591"/>
            <a:ext cx="9144004" cy="5383780"/>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Experts in Data and Analytics"/>
          <p:cNvSpPr txBox="1"/>
          <p:nvPr/>
        </p:nvSpPr>
        <p:spPr>
          <a:xfrm>
            <a:off x="622296" y="782473"/>
            <a:ext cx="4268488" cy="451666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b">
            <a:normAutofit/>
          </a:bodyPr>
          <a:lstStyle/>
          <a:p>
            <a:pPr algn="r">
              <a:lnSpc>
                <a:spcPct val="90000"/>
              </a:lnSpc>
              <a:spcBef>
                <a:spcPct val="0"/>
              </a:spcBef>
              <a:spcAft>
                <a:spcPts val="800"/>
              </a:spcAft>
              <a:defRPr sz="6700">
                <a:solidFill>
                  <a:srgbClr val="FFFFFF"/>
                </a:solidFill>
                <a:latin typeface="Avenir Next"/>
                <a:ea typeface="Avenir Next"/>
                <a:cs typeface="Avenir Next"/>
                <a:sym typeface="Avenir Next"/>
              </a:defRPr>
            </a:pPr>
            <a:r>
              <a:rPr lang="en-US" sz="5300" kern="1200">
                <a:solidFill>
                  <a:srgbClr val="FFFFFF"/>
                </a:solidFill>
                <a:latin typeface="+mj-lt"/>
                <a:ea typeface="+mj-ea"/>
                <a:cs typeface="+mj-cs"/>
              </a:rPr>
              <a:t>What You need to Know</a:t>
            </a:r>
          </a:p>
        </p:txBody>
      </p:sp>
      <p:sp>
        <p:nvSpPr>
          <p:cNvPr id="184" name="Over a hundred data and analytics specialists…"/>
          <p:cNvSpPr txBox="1"/>
          <p:nvPr/>
        </p:nvSpPr>
        <p:spPr>
          <a:xfrm>
            <a:off x="6413678" y="865973"/>
            <a:ext cx="8740463" cy="739472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ctr">
            <a:noAutofit/>
          </a:bodyPr>
          <a:lstStyle/>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Data </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How Data is Stored </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Basic of Databases and SQL</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Basic of Datawarehouse </a:t>
            </a:r>
          </a:p>
          <a:p>
            <a:pPr marL="397214" lvl="8"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Fact/ Transactions </a:t>
            </a:r>
          </a:p>
          <a:p>
            <a:pPr marL="397214" lvl="8"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Dimension /Master/Common </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OLTP</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OLAP</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STAR Schema</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Snowflake Schema </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Basic Excel</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r>
              <a:rPr lang="en-US" sz="4000" dirty="0">
                <a:solidFill>
                  <a:schemeClr val="tx2">
                    <a:lumMod val="75000"/>
                  </a:schemeClr>
                </a:solidFill>
              </a:rPr>
              <a:t>Business Intelligence </a:t>
            </a:r>
          </a:p>
          <a:p>
            <a:pPr marL="397214" indent="-228600">
              <a:lnSpc>
                <a:spcPct val="90000"/>
              </a:lnSpc>
              <a:spcAft>
                <a:spcPts val="800"/>
              </a:spcAft>
              <a:buSzPct val="100000"/>
              <a:buFont typeface="Arial" panose="020B0604020202020204" pitchFamily="34" charset="0"/>
              <a:buChar char="•"/>
              <a:defRPr sz="4200">
                <a:solidFill>
                  <a:srgbClr val="FFFFFF"/>
                </a:solidFill>
                <a:latin typeface="Avenir Next"/>
                <a:ea typeface="Avenir Next"/>
                <a:cs typeface="Avenir Next"/>
                <a:sym typeface="Avenir Next"/>
              </a:defRPr>
            </a:pPr>
            <a:endParaRPr lang="en-US" sz="4000" dirty="0">
              <a:solidFill>
                <a:schemeClr val="tx2">
                  <a:lumMod val="75000"/>
                </a:schemeClr>
              </a:solidFill>
            </a:endParaRPr>
          </a:p>
        </p:txBody>
      </p:sp>
    </p:spTree>
    <p:extLst>
      <p:ext uri="{BB962C8B-B14F-4D97-AF65-F5344CB8AC3E}">
        <p14:creationId xmlns:p14="http://schemas.microsoft.com/office/powerpoint/2010/main" val="363608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F36090-E8B7-63C1-98E7-C983E8B68CB0}"/>
              </a:ext>
            </a:extLst>
          </p:cNvPr>
          <p:cNvPicPr>
            <a:picLocks noChangeAspect="1"/>
          </p:cNvPicPr>
          <p:nvPr/>
        </p:nvPicPr>
        <p:blipFill>
          <a:blip r:embed="rId2">
            <a:duotone>
              <a:schemeClr val="bg2">
                <a:shade val="45000"/>
                <a:satMod val="135000"/>
              </a:schemeClr>
              <a:prstClr val="white"/>
            </a:duotone>
          </a:blip>
          <a:srcRect/>
          <a:stretch>
            <a:fillRect/>
          </a:stretch>
        </p:blipFill>
        <p:spPr>
          <a:xfrm>
            <a:off x="20" y="10"/>
            <a:ext cx="16255980" cy="9143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F8D0D9-68D7-26C2-D9A9-8F23437169BF}"/>
              </a:ext>
            </a:extLst>
          </p:cNvPr>
          <p:cNvSpPr>
            <a:spLocks noGrp="1"/>
          </p:cNvSpPr>
          <p:nvPr>
            <p:ph type="title"/>
          </p:nvPr>
        </p:nvSpPr>
        <p:spPr>
          <a:xfrm>
            <a:off x="1117600" y="486833"/>
            <a:ext cx="14020800" cy="1767417"/>
          </a:xfrm>
        </p:spPr>
        <p:txBody>
          <a:bodyPr>
            <a:normAutofit/>
          </a:bodyPr>
          <a:lstStyle/>
          <a:p>
            <a:r>
              <a:rPr lang="en-US"/>
              <a:t>What is Data</a:t>
            </a:r>
            <a:endParaRPr lang="en-IN"/>
          </a:p>
        </p:txBody>
      </p:sp>
      <p:graphicFrame>
        <p:nvGraphicFramePr>
          <p:cNvPr id="7" name="Content Placeholder 2">
            <a:extLst>
              <a:ext uri="{FF2B5EF4-FFF2-40B4-BE49-F238E27FC236}">
                <a16:creationId xmlns:a16="http://schemas.microsoft.com/office/drawing/2014/main" id="{3FD9D0DA-A5FE-C72C-B7F1-CA41FEFA78A5}"/>
              </a:ext>
            </a:extLst>
          </p:cNvPr>
          <p:cNvGraphicFramePr>
            <a:graphicFrameLocks noGrp="1"/>
          </p:cNvGraphicFramePr>
          <p:nvPr>
            <p:ph idx="1"/>
            <p:extLst>
              <p:ext uri="{D42A27DB-BD31-4B8C-83A1-F6EECF244321}">
                <p14:modId xmlns:p14="http://schemas.microsoft.com/office/powerpoint/2010/main" val="1661352078"/>
              </p:ext>
            </p:extLst>
          </p:nvPr>
        </p:nvGraphicFramePr>
        <p:xfrm>
          <a:off x="1117600" y="2434166"/>
          <a:ext cx="14020800" cy="58017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41744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7" name="Rectangle 22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6255998" cy="2893374"/>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777092" y="0"/>
            <a:ext cx="5462948" cy="2894214"/>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680861" y="-6680057"/>
            <a:ext cx="2894279" cy="16256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Experts in Data and Analytics"/>
          <p:cNvSpPr txBox="1"/>
          <p:nvPr/>
        </p:nvSpPr>
        <p:spPr>
          <a:xfrm>
            <a:off x="1844752" y="465153"/>
            <a:ext cx="12957481" cy="210192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lIns="91440" tIns="45720" rIns="91440" bIns="45720" rtlCol="0" anchor="ctr">
            <a:normAutofit/>
          </a:bodyPr>
          <a:lstStyle/>
          <a:p>
            <a:pPr>
              <a:lnSpc>
                <a:spcPct val="90000"/>
              </a:lnSpc>
              <a:spcBef>
                <a:spcPct val="0"/>
              </a:spcBef>
              <a:spcAft>
                <a:spcPts val="800"/>
              </a:spcAft>
              <a:defRPr sz="6700">
                <a:solidFill>
                  <a:srgbClr val="FFFFFF"/>
                </a:solidFill>
                <a:latin typeface="Avenir Next"/>
                <a:ea typeface="Avenir Next"/>
                <a:cs typeface="Avenir Next"/>
                <a:sym typeface="Avenir Next"/>
              </a:defRPr>
            </a:pPr>
            <a:r>
              <a:rPr lang="en-US" sz="5300" kern="1200">
                <a:solidFill>
                  <a:srgbClr val="FFFFFF"/>
                </a:solidFill>
                <a:latin typeface="+mj-lt"/>
                <a:ea typeface="+mj-ea"/>
                <a:cs typeface="+mj-cs"/>
              </a:rPr>
              <a:t>What Is Business Intelligence</a:t>
            </a:r>
          </a:p>
        </p:txBody>
      </p:sp>
      <p:graphicFrame>
        <p:nvGraphicFramePr>
          <p:cNvPr id="223" name="Over a hundred data and analytics specialists…">
            <a:extLst>
              <a:ext uri="{FF2B5EF4-FFF2-40B4-BE49-F238E27FC236}">
                <a16:creationId xmlns:a16="http://schemas.microsoft.com/office/drawing/2014/main" id="{28522305-0D27-1C63-7645-2B27A46960FB}"/>
              </a:ext>
            </a:extLst>
          </p:cNvPr>
          <p:cNvGraphicFramePr/>
          <p:nvPr>
            <p:extLst>
              <p:ext uri="{D42A27DB-BD31-4B8C-83A1-F6EECF244321}">
                <p14:modId xmlns:p14="http://schemas.microsoft.com/office/powerpoint/2010/main" val="667570318"/>
              </p:ext>
            </p:extLst>
          </p:nvPr>
        </p:nvGraphicFramePr>
        <p:xfrm>
          <a:off x="858741" y="3487972"/>
          <a:ext cx="14570439" cy="4919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3452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990130-8934-2E2F-5020-861E9AB8D8EB}"/>
            </a:ext>
          </a:extLst>
        </p:cNvPr>
        <p:cNvGrpSpPr/>
        <p:nvPr/>
      </p:nvGrpSpPr>
      <p:grpSpPr>
        <a:xfrm>
          <a:off x="0" y="0"/>
          <a:ext cx="0" cy="0"/>
          <a:chOff x="0" y="0"/>
          <a:chExt cx="0" cy="0"/>
        </a:xfrm>
      </p:grpSpPr>
      <p:sp useBgFill="1">
        <p:nvSpPr>
          <p:cNvPr id="227" name="Rectangle 226">
            <a:extLst>
              <a:ext uri="{FF2B5EF4-FFF2-40B4-BE49-F238E27FC236}">
                <a16:creationId xmlns:a16="http://schemas.microsoft.com/office/drawing/2014/main" id="{3E9B36C5-E119-2F2F-6B2E-824C9E79FE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CE67CC5C-B0A4-2347-1607-39F0E15768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6255998" cy="2893374"/>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72DFF558-22B7-6ACF-05CF-909013F82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777092" y="0"/>
            <a:ext cx="5462948" cy="2894214"/>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3200781B-8501-781F-DC13-7E4FF2D7A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680861" y="-6680057"/>
            <a:ext cx="2894279" cy="16256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Experts in Data and Analytics">
            <a:extLst>
              <a:ext uri="{FF2B5EF4-FFF2-40B4-BE49-F238E27FC236}">
                <a16:creationId xmlns:a16="http://schemas.microsoft.com/office/drawing/2014/main" id="{8154296C-D354-CAB8-9F5B-B7A76740E77C}"/>
              </a:ext>
            </a:extLst>
          </p:cNvPr>
          <p:cNvSpPr txBox="1"/>
          <p:nvPr/>
        </p:nvSpPr>
        <p:spPr>
          <a:xfrm>
            <a:off x="1844752" y="465153"/>
            <a:ext cx="12957481" cy="210192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ctr">
            <a:normAutofit/>
          </a:bodyPr>
          <a:lstStyle/>
          <a:p>
            <a:pPr>
              <a:lnSpc>
                <a:spcPct val="90000"/>
              </a:lnSpc>
              <a:spcBef>
                <a:spcPct val="0"/>
              </a:spcBef>
              <a:spcAft>
                <a:spcPts val="800"/>
              </a:spcAft>
              <a:defRPr sz="6700">
                <a:solidFill>
                  <a:srgbClr val="FFFFFF"/>
                </a:solidFill>
                <a:latin typeface="Avenir Next"/>
                <a:ea typeface="Avenir Next"/>
                <a:cs typeface="Avenir Next"/>
                <a:sym typeface="Avenir Next"/>
              </a:defRPr>
            </a:pPr>
            <a:r>
              <a:rPr lang="en-US" sz="5300" kern="1200" dirty="0">
                <a:solidFill>
                  <a:srgbClr val="FFFFFF"/>
                </a:solidFill>
                <a:latin typeface="+mj-lt"/>
                <a:ea typeface="+mj-ea"/>
                <a:cs typeface="+mj-cs"/>
              </a:rPr>
              <a:t>What is Power BI</a:t>
            </a:r>
          </a:p>
        </p:txBody>
      </p:sp>
      <p:graphicFrame>
        <p:nvGraphicFramePr>
          <p:cNvPr id="223" name="Over a hundred data and analytics specialists…">
            <a:extLst>
              <a:ext uri="{FF2B5EF4-FFF2-40B4-BE49-F238E27FC236}">
                <a16:creationId xmlns:a16="http://schemas.microsoft.com/office/drawing/2014/main" id="{90BB3F24-27D3-878F-1D7A-8427E4C641E5}"/>
              </a:ext>
            </a:extLst>
          </p:cNvPr>
          <p:cNvGraphicFramePr/>
          <p:nvPr>
            <p:extLst>
              <p:ext uri="{D42A27DB-BD31-4B8C-83A1-F6EECF244321}">
                <p14:modId xmlns:p14="http://schemas.microsoft.com/office/powerpoint/2010/main" val="843872671"/>
              </p:ext>
            </p:extLst>
          </p:nvPr>
        </p:nvGraphicFramePr>
        <p:xfrm>
          <a:off x="858741" y="3487972"/>
          <a:ext cx="14570439" cy="4919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8224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890052" y="1890051"/>
            <a:ext cx="9167757" cy="5387659"/>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11327" y="3547297"/>
            <a:ext cx="5807459" cy="5384804"/>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574509" y="2184113"/>
            <a:ext cx="9143429" cy="47752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996473" y="1601749"/>
            <a:ext cx="6411069" cy="5451555"/>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Experts in Data and Analytics">
            <a:extLst>
              <a:ext uri="{FF2B5EF4-FFF2-40B4-BE49-F238E27FC236}">
                <a16:creationId xmlns:a16="http://schemas.microsoft.com/office/drawing/2014/main" id="{8AD64D01-BECA-45E4-82D3-248A8085E789}"/>
              </a:ext>
            </a:extLst>
          </p:cNvPr>
          <p:cNvSpPr txBox="1"/>
          <p:nvPr/>
        </p:nvSpPr>
        <p:spPr>
          <a:xfrm>
            <a:off x="880054" y="3689474"/>
            <a:ext cx="3841104" cy="409587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lIns="91440" tIns="45720" rIns="91440" bIns="45720" rtlCol="0" anchor="t">
            <a:normAutofit/>
          </a:bodyPr>
          <a:lstStyle/>
          <a:p>
            <a:pPr>
              <a:lnSpc>
                <a:spcPct val="90000"/>
              </a:lnSpc>
              <a:spcBef>
                <a:spcPct val="0"/>
              </a:spcBef>
              <a:spcAft>
                <a:spcPts val="800"/>
              </a:spcAft>
              <a:defRPr sz="6700">
                <a:solidFill>
                  <a:srgbClr val="FFFFFF"/>
                </a:solidFill>
                <a:latin typeface="Avenir Next"/>
                <a:ea typeface="Avenir Next"/>
                <a:cs typeface="Avenir Next"/>
                <a:sym typeface="Avenir Next"/>
              </a:defRPr>
            </a:pPr>
            <a:r>
              <a:rPr lang="en-US" sz="5300" kern="1200">
                <a:solidFill>
                  <a:srgbClr val="FFFFFF"/>
                </a:solidFill>
                <a:latin typeface="+mj-lt"/>
                <a:ea typeface="+mj-ea"/>
                <a:cs typeface="+mj-cs"/>
              </a:rPr>
              <a:t>Power BI Ecosystem</a:t>
            </a:r>
          </a:p>
        </p:txBody>
      </p:sp>
      <p:pic>
        <p:nvPicPr>
          <p:cNvPr id="3" name="Picture 2" descr="Diagram, schematic&#10;&#10;Description automatically generated">
            <a:extLst>
              <a:ext uri="{FF2B5EF4-FFF2-40B4-BE49-F238E27FC236}">
                <a16:creationId xmlns:a16="http://schemas.microsoft.com/office/drawing/2014/main" id="{9A5B592C-77C7-A1C7-927F-A37A4FC76A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3237" y="983213"/>
            <a:ext cx="9634331" cy="7177575"/>
          </a:xfrm>
          <a:prstGeom prst="rect">
            <a:avLst/>
          </a:prstGeom>
        </p:spPr>
      </p:pic>
    </p:spTree>
    <p:extLst>
      <p:ext uri="{BB962C8B-B14F-4D97-AF65-F5344CB8AC3E}">
        <p14:creationId xmlns:p14="http://schemas.microsoft.com/office/powerpoint/2010/main" val="4095927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EA79F8-D49C-9DB5-2BE1-B024E64A0A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77512"/>
            <a:ext cx="16256000" cy="8166488"/>
          </a:xfrm>
          <a:prstGeom prst="rect">
            <a:avLst/>
          </a:prstGeom>
        </p:spPr>
      </p:pic>
      <p:pic>
        <p:nvPicPr>
          <p:cNvPr id="6" name="Picture 5">
            <a:extLst>
              <a:ext uri="{FF2B5EF4-FFF2-40B4-BE49-F238E27FC236}">
                <a16:creationId xmlns:a16="http://schemas.microsoft.com/office/drawing/2014/main" id="{40FE36E2-8A1E-8B6B-6BB1-922283F7AC00}"/>
              </a:ext>
            </a:extLst>
          </p:cNvPr>
          <p:cNvPicPr>
            <a:picLocks noChangeAspect="1"/>
          </p:cNvPicPr>
          <p:nvPr/>
        </p:nvPicPr>
        <p:blipFill>
          <a:blip r:embed="rId3"/>
          <a:stretch>
            <a:fillRect/>
          </a:stretch>
        </p:blipFill>
        <p:spPr>
          <a:xfrm>
            <a:off x="5891383" y="210457"/>
            <a:ext cx="4473234" cy="7489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749447-ADDD-AE1D-A5AE-67770A2101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3400" y="0"/>
            <a:ext cx="9576356" cy="9144000"/>
          </a:xfrm>
          <a:prstGeom prst="rect">
            <a:avLst/>
          </a:prstGeom>
        </p:spPr>
      </p:pic>
      <p:pic>
        <p:nvPicPr>
          <p:cNvPr id="5" name="Picture 4">
            <a:extLst>
              <a:ext uri="{FF2B5EF4-FFF2-40B4-BE49-F238E27FC236}">
                <a16:creationId xmlns:a16="http://schemas.microsoft.com/office/drawing/2014/main" id="{ED99EAA2-B2C1-7755-39DA-B69584818378}"/>
              </a:ext>
            </a:extLst>
          </p:cNvPr>
          <p:cNvPicPr>
            <a:picLocks noChangeAspect="1"/>
          </p:cNvPicPr>
          <p:nvPr/>
        </p:nvPicPr>
        <p:blipFill>
          <a:blip r:embed="rId3"/>
          <a:stretch>
            <a:fillRect/>
          </a:stretch>
        </p:blipFill>
        <p:spPr>
          <a:xfrm>
            <a:off x="660400" y="3429000"/>
            <a:ext cx="4680851" cy="762000"/>
          </a:xfrm>
          <a:prstGeom prst="rect">
            <a:avLst/>
          </a:prstGeom>
        </p:spPr>
      </p:pic>
    </p:spTree>
    <p:extLst>
      <p:ext uri="{BB962C8B-B14F-4D97-AF65-F5344CB8AC3E}">
        <p14:creationId xmlns:p14="http://schemas.microsoft.com/office/powerpoint/2010/main" val="1195909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9AD4FF-F58C-2733-261D-C118568026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000" y="762000"/>
            <a:ext cx="11944350" cy="9304141"/>
          </a:xfrm>
          <a:prstGeom prst="rect">
            <a:avLst/>
          </a:prstGeom>
        </p:spPr>
      </p:pic>
      <p:pic>
        <p:nvPicPr>
          <p:cNvPr id="5" name="Picture 4">
            <a:extLst>
              <a:ext uri="{FF2B5EF4-FFF2-40B4-BE49-F238E27FC236}">
                <a16:creationId xmlns:a16="http://schemas.microsoft.com/office/drawing/2014/main" id="{07834F67-2508-3CA8-D0C5-5C6283639E38}"/>
              </a:ext>
            </a:extLst>
          </p:cNvPr>
          <p:cNvPicPr>
            <a:picLocks noChangeAspect="1"/>
          </p:cNvPicPr>
          <p:nvPr/>
        </p:nvPicPr>
        <p:blipFill>
          <a:blip r:embed="rId3"/>
          <a:stretch>
            <a:fillRect/>
          </a:stretch>
        </p:blipFill>
        <p:spPr>
          <a:xfrm>
            <a:off x="6620777" y="152400"/>
            <a:ext cx="3014445" cy="849139"/>
          </a:xfrm>
          <a:prstGeom prst="rect">
            <a:avLst/>
          </a:prstGeom>
        </p:spPr>
      </p:pic>
    </p:spTree>
    <p:extLst>
      <p:ext uri="{BB962C8B-B14F-4D97-AF65-F5344CB8AC3E}">
        <p14:creationId xmlns:p14="http://schemas.microsoft.com/office/powerpoint/2010/main" val="2229524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 name="Image" descr="Image"/>
          <p:cNvPicPr>
            <a:picLocks noChangeAspect="1"/>
          </p:cNvPicPr>
          <p:nvPr/>
        </p:nvPicPr>
        <p:blipFill>
          <a:blip r:embed="rId2">
            <a:alphaModFix amt="25000"/>
          </a:blip>
          <a:srcRect t="45706"/>
          <a:stretch>
            <a:fillRect/>
          </a:stretch>
        </p:blipFill>
        <p:spPr>
          <a:xfrm rot="10800000" flipH="1">
            <a:off x="-880262" y="3825519"/>
            <a:ext cx="17302593" cy="2364952"/>
          </a:xfrm>
          <a:prstGeom prst="rect">
            <a:avLst/>
          </a:prstGeom>
          <a:ln w="12700">
            <a:miter lim="400000"/>
          </a:ln>
        </p:spPr>
      </p:pic>
      <p:sp>
        <p:nvSpPr>
          <p:cNvPr id="268" name="Connect Data Strategy to Business Strategy"/>
          <p:cNvSpPr txBox="1"/>
          <p:nvPr/>
        </p:nvSpPr>
        <p:spPr>
          <a:xfrm>
            <a:off x="772768" y="2795443"/>
            <a:ext cx="4423483" cy="5402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968" rIns="36968">
            <a:spAutoFit/>
          </a:bodyPr>
          <a:lstStyle/>
          <a:p>
            <a:pPr>
              <a:defRPr sz="3600">
                <a:solidFill>
                  <a:srgbClr val="FF6D00"/>
                </a:solidFill>
                <a:latin typeface="Avenir Next"/>
                <a:ea typeface="Avenir Next"/>
                <a:cs typeface="Avenir Next"/>
                <a:sym typeface="Avenir Next"/>
              </a:defRPr>
            </a:pPr>
            <a:r>
              <a:rPr sz="2911" dirty="0"/>
              <a:t>Understand</a:t>
            </a:r>
            <a:r>
              <a:rPr lang="en-US" sz="2911" dirty="0"/>
              <a:t> Business </a:t>
            </a:r>
            <a:endParaRPr sz="2911" dirty="0"/>
          </a:p>
        </p:txBody>
      </p:sp>
      <p:sp>
        <p:nvSpPr>
          <p:cNvPr id="269" name="Data Analytics Requirements"/>
          <p:cNvSpPr txBox="1"/>
          <p:nvPr/>
        </p:nvSpPr>
        <p:spPr>
          <a:xfrm>
            <a:off x="235326" y="319358"/>
            <a:ext cx="11769844" cy="888705"/>
          </a:xfrm>
          <a:prstGeom prst="rect">
            <a:avLst/>
          </a:prstGeom>
          <a:ln w="12700">
            <a:miter lim="400000"/>
          </a:ln>
          <a:effectLst>
            <a:outerShdw blurRad="50800" dist="63500" dir="27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968" rIns="36968">
            <a:spAutoFit/>
          </a:bodyPr>
          <a:lstStyle>
            <a:lvl1pPr>
              <a:defRPr sz="6400">
                <a:solidFill>
                  <a:srgbClr val="FFFFFF"/>
                </a:solidFill>
                <a:latin typeface="Avenir Next"/>
                <a:ea typeface="Avenir Next"/>
                <a:cs typeface="Avenir Next"/>
                <a:sym typeface="Avenir Next"/>
              </a:defRPr>
            </a:lvl1pPr>
          </a:lstStyle>
          <a:p>
            <a:r>
              <a:rPr lang="en-US" sz="5175" dirty="0">
                <a:solidFill>
                  <a:srgbClr val="FF0000"/>
                </a:solidFill>
              </a:rPr>
              <a:t>Important Steps in Data Analysis(BI)</a:t>
            </a:r>
            <a:endParaRPr sz="5175" dirty="0">
              <a:solidFill>
                <a:srgbClr val="FF0000"/>
              </a:solidFill>
            </a:endParaRPr>
          </a:p>
        </p:txBody>
      </p:sp>
      <p:sp>
        <p:nvSpPr>
          <p:cNvPr id="271" name="Line"/>
          <p:cNvSpPr/>
          <p:nvPr/>
        </p:nvSpPr>
        <p:spPr>
          <a:xfrm flipV="1">
            <a:off x="8902699" y="2204121"/>
            <a:ext cx="2606159" cy="1666449"/>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sp>
        <p:nvSpPr>
          <p:cNvPr id="272" name="Line"/>
          <p:cNvSpPr/>
          <p:nvPr/>
        </p:nvSpPr>
        <p:spPr>
          <a:xfrm>
            <a:off x="11491062" y="2208392"/>
            <a:ext cx="1502148" cy="1"/>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sp>
        <p:nvSpPr>
          <p:cNvPr id="273" name="Line"/>
          <p:cNvSpPr/>
          <p:nvPr/>
        </p:nvSpPr>
        <p:spPr>
          <a:xfrm>
            <a:off x="8539426" y="6078740"/>
            <a:ext cx="1353861" cy="1704792"/>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sp>
        <p:nvSpPr>
          <p:cNvPr id="274" name="Line"/>
          <p:cNvSpPr/>
          <p:nvPr/>
        </p:nvSpPr>
        <p:spPr>
          <a:xfrm>
            <a:off x="11390616" y="5126022"/>
            <a:ext cx="1502149" cy="1"/>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sp>
        <p:nvSpPr>
          <p:cNvPr id="275" name="Line"/>
          <p:cNvSpPr/>
          <p:nvPr/>
        </p:nvSpPr>
        <p:spPr>
          <a:xfrm flipH="1" flipV="1">
            <a:off x="4928863" y="2722940"/>
            <a:ext cx="2645695" cy="1666449"/>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sp>
        <p:nvSpPr>
          <p:cNvPr id="276" name="Line"/>
          <p:cNvSpPr/>
          <p:nvPr/>
        </p:nvSpPr>
        <p:spPr>
          <a:xfrm flipH="1">
            <a:off x="3301060" y="2727210"/>
            <a:ext cx="1645600" cy="1"/>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sp>
        <p:nvSpPr>
          <p:cNvPr id="277" name="Line"/>
          <p:cNvSpPr/>
          <p:nvPr/>
        </p:nvSpPr>
        <p:spPr>
          <a:xfrm flipH="1">
            <a:off x="5306956" y="5363016"/>
            <a:ext cx="1780267" cy="1004617"/>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sp>
        <p:nvSpPr>
          <p:cNvPr id="278" name="Line"/>
          <p:cNvSpPr/>
          <p:nvPr/>
        </p:nvSpPr>
        <p:spPr>
          <a:xfrm flipH="1">
            <a:off x="3454770" y="6364894"/>
            <a:ext cx="1861548" cy="1"/>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sp>
        <p:nvSpPr>
          <p:cNvPr id="279" name="Improve Data Management"/>
          <p:cNvSpPr txBox="1"/>
          <p:nvPr/>
        </p:nvSpPr>
        <p:spPr>
          <a:xfrm>
            <a:off x="1054311" y="6539316"/>
            <a:ext cx="5171000" cy="5402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968" rIns="36968">
            <a:spAutoFit/>
          </a:bodyPr>
          <a:lstStyle/>
          <a:p>
            <a:pPr>
              <a:defRPr sz="3600">
                <a:solidFill>
                  <a:srgbClr val="FF6D00"/>
                </a:solidFill>
                <a:latin typeface="Avenir Next"/>
                <a:ea typeface="Avenir Next"/>
                <a:cs typeface="Avenir Next"/>
                <a:sym typeface="Avenir Next"/>
              </a:defRPr>
            </a:pPr>
            <a:r>
              <a:rPr lang="en-US" sz="2911" dirty="0"/>
              <a:t>Understand Data</a:t>
            </a:r>
            <a:endParaRPr sz="2911" dirty="0"/>
          </a:p>
        </p:txBody>
      </p:sp>
      <p:sp>
        <p:nvSpPr>
          <p:cNvPr id="280" name="Enable Self-Service Business Intelligence"/>
          <p:cNvSpPr txBox="1"/>
          <p:nvPr/>
        </p:nvSpPr>
        <p:spPr>
          <a:xfrm>
            <a:off x="11536888" y="2334595"/>
            <a:ext cx="3946345" cy="5402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6968" rIns="36968">
            <a:spAutoFit/>
          </a:bodyPr>
          <a:lstStyle/>
          <a:p>
            <a:pPr>
              <a:defRPr sz="3600">
                <a:solidFill>
                  <a:srgbClr val="FF6D00"/>
                </a:solidFill>
                <a:latin typeface="Avenir Next"/>
                <a:ea typeface="Avenir Next"/>
                <a:cs typeface="Avenir Next"/>
                <a:sym typeface="Avenir Next"/>
              </a:defRPr>
            </a:pPr>
            <a:r>
              <a:rPr lang="en-US" sz="2911" dirty="0"/>
              <a:t>Understand BI tool</a:t>
            </a:r>
            <a:endParaRPr sz="2911" dirty="0"/>
          </a:p>
        </p:txBody>
      </p:sp>
      <p:sp>
        <p:nvSpPr>
          <p:cNvPr id="281" name="Modernise and scale Data Analytics"/>
          <p:cNvSpPr txBox="1"/>
          <p:nvPr/>
        </p:nvSpPr>
        <p:spPr>
          <a:xfrm>
            <a:off x="11571309" y="5232745"/>
            <a:ext cx="3800552" cy="5402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968" rIns="36968">
            <a:spAutoFit/>
          </a:bodyPr>
          <a:lstStyle/>
          <a:p>
            <a:pPr>
              <a:defRPr sz="3600">
                <a:solidFill>
                  <a:srgbClr val="FF6D00"/>
                </a:solidFill>
                <a:latin typeface="Avenir Next"/>
                <a:ea typeface="Avenir Next"/>
                <a:cs typeface="Avenir Next"/>
                <a:sym typeface="Avenir Next"/>
              </a:defRPr>
            </a:pPr>
            <a:r>
              <a:rPr lang="en-US" sz="2911" dirty="0"/>
              <a:t>Model Data</a:t>
            </a:r>
            <a:endParaRPr sz="2911" dirty="0"/>
          </a:p>
        </p:txBody>
      </p:sp>
      <p:sp>
        <p:nvSpPr>
          <p:cNvPr id="282" name="Circle"/>
          <p:cNvSpPr/>
          <p:nvPr/>
        </p:nvSpPr>
        <p:spPr>
          <a:xfrm>
            <a:off x="3242524" y="2682483"/>
            <a:ext cx="87704" cy="89453"/>
          </a:xfrm>
          <a:prstGeom prst="ellipse">
            <a:avLst/>
          </a:prstGeom>
          <a:solidFill>
            <a:srgbClr val="C26B23"/>
          </a:solidFill>
          <a:ln w="12700">
            <a:miter lim="400000"/>
          </a:ln>
          <a:effectLst>
            <a:outerShdw blurRad="38100" dist="23000" dir="5400000" rotWithShape="0">
              <a:srgbClr val="000000">
                <a:alpha val="35000"/>
              </a:srgbClr>
            </a:outerShdw>
          </a:effectLst>
        </p:spPr>
        <p:txBody>
          <a:bodyPr lIns="36968" rIns="36968" anchor="ctr"/>
          <a:lstStyle/>
          <a:p>
            <a:endParaRPr sz="1456"/>
          </a:p>
        </p:txBody>
      </p:sp>
      <p:sp>
        <p:nvSpPr>
          <p:cNvPr id="283" name="Circle"/>
          <p:cNvSpPr/>
          <p:nvPr/>
        </p:nvSpPr>
        <p:spPr>
          <a:xfrm>
            <a:off x="12962989" y="2163666"/>
            <a:ext cx="87704" cy="89453"/>
          </a:xfrm>
          <a:prstGeom prst="ellipse">
            <a:avLst/>
          </a:prstGeom>
          <a:solidFill>
            <a:srgbClr val="C26B23"/>
          </a:solidFill>
          <a:ln w="12700">
            <a:miter lim="400000"/>
          </a:ln>
          <a:effectLst>
            <a:outerShdw blurRad="38100" dist="23000" dir="5400000" rotWithShape="0">
              <a:srgbClr val="000000">
                <a:alpha val="35000"/>
              </a:srgbClr>
            </a:outerShdw>
          </a:effectLst>
        </p:spPr>
        <p:txBody>
          <a:bodyPr lIns="36968" rIns="36968" anchor="ctr"/>
          <a:lstStyle/>
          <a:p>
            <a:endParaRPr sz="1456"/>
          </a:p>
        </p:txBody>
      </p:sp>
      <p:sp>
        <p:nvSpPr>
          <p:cNvPr id="284" name="Circle"/>
          <p:cNvSpPr/>
          <p:nvPr/>
        </p:nvSpPr>
        <p:spPr>
          <a:xfrm>
            <a:off x="12826067" y="5081296"/>
            <a:ext cx="87704" cy="89453"/>
          </a:xfrm>
          <a:prstGeom prst="ellipse">
            <a:avLst/>
          </a:prstGeom>
          <a:solidFill>
            <a:srgbClr val="C26B23"/>
          </a:solidFill>
          <a:ln w="12700">
            <a:miter lim="400000"/>
          </a:ln>
          <a:effectLst>
            <a:outerShdw blurRad="38100" dist="23000" dir="5400000" rotWithShape="0">
              <a:srgbClr val="000000">
                <a:alpha val="35000"/>
              </a:srgbClr>
            </a:outerShdw>
          </a:effectLst>
        </p:spPr>
        <p:txBody>
          <a:bodyPr lIns="36968" rIns="36968" anchor="ctr"/>
          <a:lstStyle/>
          <a:p>
            <a:endParaRPr sz="1456"/>
          </a:p>
        </p:txBody>
      </p:sp>
      <p:sp>
        <p:nvSpPr>
          <p:cNvPr id="285" name="Circle"/>
          <p:cNvSpPr/>
          <p:nvPr/>
        </p:nvSpPr>
        <p:spPr>
          <a:xfrm>
            <a:off x="3365979" y="6320167"/>
            <a:ext cx="87704" cy="89453"/>
          </a:xfrm>
          <a:prstGeom prst="ellipse">
            <a:avLst/>
          </a:prstGeom>
          <a:solidFill>
            <a:srgbClr val="C26B23"/>
          </a:solidFill>
          <a:ln w="12700">
            <a:miter lim="400000"/>
          </a:ln>
          <a:effectLst>
            <a:outerShdw blurRad="38100" dist="23000" dir="5400000" rotWithShape="0">
              <a:srgbClr val="000000">
                <a:alpha val="35000"/>
              </a:srgbClr>
            </a:outerShdw>
          </a:effectLst>
        </p:spPr>
        <p:txBody>
          <a:bodyPr lIns="36968" rIns="36968" anchor="ctr"/>
          <a:lstStyle/>
          <a:p>
            <a:endParaRPr sz="1456"/>
          </a:p>
        </p:txBody>
      </p:sp>
      <p:sp>
        <p:nvSpPr>
          <p:cNvPr id="286" name="Line"/>
          <p:cNvSpPr/>
          <p:nvPr/>
        </p:nvSpPr>
        <p:spPr>
          <a:xfrm>
            <a:off x="9906991" y="7807445"/>
            <a:ext cx="1502149" cy="1"/>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sp>
        <p:nvSpPr>
          <p:cNvPr id="287" name="Drive Productivity and Cost Reduction"/>
          <p:cNvSpPr txBox="1"/>
          <p:nvPr/>
        </p:nvSpPr>
        <p:spPr>
          <a:xfrm>
            <a:off x="11525639" y="7323795"/>
            <a:ext cx="3800552" cy="5402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6968" rIns="36968">
            <a:spAutoFit/>
          </a:bodyPr>
          <a:lstStyle/>
          <a:p>
            <a:pPr>
              <a:defRPr sz="3600">
                <a:solidFill>
                  <a:srgbClr val="FF6D00"/>
                </a:solidFill>
                <a:latin typeface="Avenir Next"/>
                <a:ea typeface="Avenir Next"/>
                <a:cs typeface="Avenir Next"/>
                <a:sym typeface="Avenir Next"/>
              </a:defRPr>
            </a:pPr>
            <a:r>
              <a:rPr lang="en-US" sz="2911" dirty="0"/>
              <a:t>Create Analysis</a:t>
            </a:r>
            <a:endParaRPr sz="2911" dirty="0"/>
          </a:p>
        </p:txBody>
      </p:sp>
      <p:sp>
        <p:nvSpPr>
          <p:cNvPr id="288" name="Circle"/>
          <p:cNvSpPr/>
          <p:nvPr/>
        </p:nvSpPr>
        <p:spPr>
          <a:xfrm>
            <a:off x="11420734" y="7766994"/>
            <a:ext cx="87703" cy="89453"/>
          </a:xfrm>
          <a:prstGeom prst="ellipse">
            <a:avLst/>
          </a:prstGeom>
          <a:solidFill>
            <a:srgbClr val="C26B23"/>
          </a:solidFill>
          <a:ln w="12700">
            <a:miter lim="400000"/>
          </a:ln>
          <a:effectLst>
            <a:outerShdw blurRad="38100" dist="23000" dir="5400000" rotWithShape="0">
              <a:srgbClr val="000000">
                <a:alpha val="35000"/>
              </a:srgbClr>
            </a:outerShdw>
          </a:effectLst>
        </p:spPr>
        <p:txBody>
          <a:bodyPr lIns="36968" rIns="36968" anchor="ctr"/>
          <a:lstStyle/>
          <a:p>
            <a:endParaRPr sz="1456"/>
          </a:p>
        </p:txBody>
      </p:sp>
      <p:sp>
        <p:nvSpPr>
          <p:cNvPr id="289" name="Line"/>
          <p:cNvSpPr/>
          <p:nvPr/>
        </p:nvSpPr>
        <p:spPr>
          <a:xfrm>
            <a:off x="8942871" y="4541616"/>
            <a:ext cx="2473080" cy="588195"/>
          </a:xfrm>
          <a:prstGeom prst="line">
            <a:avLst/>
          </a:prstGeom>
          <a:ln w="25400">
            <a:solidFill>
              <a:srgbClr val="C26B23"/>
            </a:solidFill>
            <a:custDash>
              <a:ds d="200000" sp="200000"/>
            </a:custDash>
          </a:ln>
          <a:effectLst>
            <a:outerShdw blurRad="38100" dist="20000" dir="5400000" rotWithShape="0">
              <a:srgbClr val="000000">
                <a:alpha val="38000"/>
              </a:srgbClr>
            </a:outerShdw>
          </a:effectLst>
        </p:spPr>
        <p:txBody>
          <a:bodyPr lIns="36968" rIns="36968"/>
          <a:lstStyle/>
          <a:p>
            <a:endParaRPr sz="1456"/>
          </a:p>
        </p:txBody>
      </p:sp>
      <p:grpSp>
        <p:nvGrpSpPr>
          <p:cNvPr id="292" name="Group"/>
          <p:cNvGrpSpPr/>
          <p:nvPr/>
        </p:nvGrpSpPr>
        <p:grpSpPr>
          <a:xfrm>
            <a:off x="6788746" y="3413062"/>
            <a:ext cx="2678509" cy="2679029"/>
            <a:chOff x="0" y="0"/>
            <a:chExt cx="3312560" cy="3313204"/>
          </a:xfrm>
        </p:grpSpPr>
        <p:sp>
          <p:nvSpPr>
            <p:cNvPr id="290" name="Gear"/>
            <p:cNvSpPr/>
            <p:nvPr/>
          </p:nvSpPr>
          <p:spPr>
            <a:xfrm>
              <a:off x="-1" y="0"/>
              <a:ext cx="3312562" cy="3313205"/>
            </a:xfrm>
            <a:custGeom>
              <a:avLst/>
              <a:gdLst/>
              <a:ahLst/>
              <a:cxnLst>
                <a:cxn ang="0">
                  <a:pos x="wd2" y="hd2"/>
                </a:cxn>
                <a:cxn ang="5400000">
                  <a:pos x="wd2" y="hd2"/>
                </a:cxn>
                <a:cxn ang="10800000">
                  <a:pos x="wd2" y="hd2"/>
                </a:cxn>
                <a:cxn ang="16200000">
                  <a:pos x="wd2" y="hd2"/>
                </a:cxn>
              </a:cxnLst>
              <a:rect l="0" t="0" r="r" b="b"/>
              <a:pathLst>
                <a:path w="21532" h="21555" extrusionOk="0">
                  <a:moveTo>
                    <a:pt x="12837" y="2"/>
                  </a:moveTo>
                  <a:cubicBezTo>
                    <a:pt x="12731" y="-11"/>
                    <a:pt x="12661" y="38"/>
                    <a:pt x="12588" y="172"/>
                  </a:cubicBezTo>
                  <a:cubicBezTo>
                    <a:pt x="12292" y="721"/>
                    <a:pt x="11969" y="1258"/>
                    <a:pt x="11661" y="1801"/>
                  </a:cubicBezTo>
                  <a:cubicBezTo>
                    <a:pt x="11547" y="2001"/>
                    <a:pt x="11418" y="2099"/>
                    <a:pt x="11153" y="2073"/>
                  </a:cubicBezTo>
                  <a:cubicBezTo>
                    <a:pt x="10691" y="2028"/>
                    <a:pt x="10220" y="2032"/>
                    <a:pt x="9759" y="2112"/>
                  </a:cubicBezTo>
                  <a:cubicBezTo>
                    <a:pt x="9550" y="2148"/>
                    <a:pt x="9432" y="2095"/>
                    <a:pt x="9318" y="1917"/>
                  </a:cubicBezTo>
                  <a:cubicBezTo>
                    <a:pt x="8969" y="1370"/>
                    <a:pt x="8594" y="841"/>
                    <a:pt x="8243" y="295"/>
                  </a:cubicBezTo>
                  <a:cubicBezTo>
                    <a:pt x="8145" y="142"/>
                    <a:pt x="8068" y="122"/>
                    <a:pt x="7905" y="198"/>
                  </a:cubicBezTo>
                  <a:cubicBezTo>
                    <a:pt x="6845" y="688"/>
                    <a:pt x="5781" y="1174"/>
                    <a:pt x="4712" y="1644"/>
                  </a:cubicBezTo>
                  <a:cubicBezTo>
                    <a:pt x="4517" y="1730"/>
                    <a:pt x="4517" y="1820"/>
                    <a:pt x="4567" y="1996"/>
                  </a:cubicBezTo>
                  <a:cubicBezTo>
                    <a:pt x="4742" y="2608"/>
                    <a:pt x="4890" y="3227"/>
                    <a:pt x="5065" y="3839"/>
                  </a:cubicBezTo>
                  <a:cubicBezTo>
                    <a:pt x="5122" y="4038"/>
                    <a:pt x="5098" y="4170"/>
                    <a:pt x="4932" y="4306"/>
                  </a:cubicBezTo>
                  <a:cubicBezTo>
                    <a:pt x="4561" y="4610"/>
                    <a:pt x="4227" y="4959"/>
                    <a:pt x="3950" y="5348"/>
                  </a:cubicBezTo>
                  <a:cubicBezTo>
                    <a:pt x="3802" y="5555"/>
                    <a:pt x="3648" y="5573"/>
                    <a:pt x="3439" y="5530"/>
                  </a:cubicBezTo>
                  <a:cubicBezTo>
                    <a:pt x="2827" y="5405"/>
                    <a:pt x="2213" y="5295"/>
                    <a:pt x="1605" y="5156"/>
                  </a:cubicBezTo>
                  <a:cubicBezTo>
                    <a:pt x="1409" y="5111"/>
                    <a:pt x="1325" y="5153"/>
                    <a:pt x="1257" y="5338"/>
                  </a:cubicBezTo>
                  <a:cubicBezTo>
                    <a:pt x="856" y="6423"/>
                    <a:pt x="449" y="7506"/>
                    <a:pt x="35" y="8586"/>
                  </a:cubicBezTo>
                  <a:cubicBezTo>
                    <a:pt x="-34" y="8767"/>
                    <a:pt x="-6" y="8857"/>
                    <a:pt x="173" y="8954"/>
                  </a:cubicBezTo>
                  <a:cubicBezTo>
                    <a:pt x="722" y="9251"/>
                    <a:pt x="1256" y="9574"/>
                    <a:pt x="1798" y="9882"/>
                  </a:cubicBezTo>
                  <a:cubicBezTo>
                    <a:pt x="2001" y="9997"/>
                    <a:pt x="2093" y="10127"/>
                    <a:pt x="2064" y="10392"/>
                  </a:cubicBezTo>
                  <a:cubicBezTo>
                    <a:pt x="2014" y="10855"/>
                    <a:pt x="2039" y="11326"/>
                    <a:pt x="2116" y="11788"/>
                  </a:cubicBezTo>
                  <a:cubicBezTo>
                    <a:pt x="2151" y="11998"/>
                    <a:pt x="2089" y="12115"/>
                    <a:pt x="1913" y="12228"/>
                  </a:cubicBezTo>
                  <a:cubicBezTo>
                    <a:pt x="1367" y="12578"/>
                    <a:pt x="837" y="12953"/>
                    <a:pt x="291" y="13303"/>
                  </a:cubicBezTo>
                  <a:cubicBezTo>
                    <a:pt x="136" y="13403"/>
                    <a:pt x="124" y="13482"/>
                    <a:pt x="199" y="13643"/>
                  </a:cubicBezTo>
                  <a:cubicBezTo>
                    <a:pt x="688" y="14705"/>
                    <a:pt x="1172" y="15768"/>
                    <a:pt x="1642" y="16837"/>
                  </a:cubicBezTo>
                  <a:cubicBezTo>
                    <a:pt x="1728" y="17034"/>
                    <a:pt x="1818" y="17032"/>
                    <a:pt x="1994" y="16982"/>
                  </a:cubicBezTo>
                  <a:cubicBezTo>
                    <a:pt x="2605" y="16807"/>
                    <a:pt x="3223" y="16651"/>
                    <a:pt x="3839" y="16489"/>
                  </a:cubicBezTo>
                  <a:cubicBezTo>
                    <a:pt x="3930" y="16465"/>
                    <a:pt x="4023" y="16451"/>
                    <a:pt x="4118" y="16432"/>
                  </a:cubicBezTo>
                  <a:cubicBezTo>
                    <a:pt x="4164" y="16485"/>
                    <a:pt x="4202" y="16532"/>
                    <a:pt x="4241" y="16576"/>
                  </a:cubicBezTo>
                  <a:cubicBezTo>
                    <a:pt x="4568" y="16944"/>
                    <a:pt x="4922" y="17287"/>
                    <a:pt x="5319" y="17573"/>
                  </a:cubicBezTo>
                  <a:cubicBezTo>
                    <a:pt x="5534" y="17728"/>
                    <a:pt x="5572" y="17885"/>
                    <a:pt x="5524" y="18114"/>
                  </a:cubicBezTo>
                  <a:cubicBezTo>
                    <a:pt x="5398" y="18725"/>
                    <a:pt x="5287" y="19339"/>
                    <a:pt x="5149" y="19947"/>
                  </a:cubicBezTo>
                  <a:cubicBezTo>
                    <a:pt x="5105" y="20142"/>
                    <a:pt x="5145" y="20229"/>
                    <a:pt x="5331" y="20297"/>
                  </a:cubicBezTo>
                  <a:cubicBezTo>
                    <a:pt x="6415" y="20698"/>
                    <a:pt x="7497" y="21106"/>
                    <a:pt x="8576" y="21520"/>
                  </a:cubicBezTo>
                  <a:cubicBezTo>
                    <a:pt x="8757" y="21589"/>
                    <a:pt x="8847" y="21563"/>
                    <a:pt x="8944" y="21383"/>
                  </a:cubicBezTo>
                  <a:cubicBezTo>
                    <a:pt x="9241" y="20834"/>
                    <a:pt x="9562" y="20299"/>
                    <a:pt x="9871" y="19757"/>
                  </a:cubicBezTo>
                  <a:cubicBezTo>
                    <a:pt x="9985" y="19558"/>
                    <a:pt x="10110" y="19452"/>
                    <a:pt x="10378" y="19481"/>
                  </a:cubicBezTo>
                  <a:cubicBezTo>
                    <a:pt x="10828" y="19528"/>
                    <a:pt x="11291" y="19534"/>
                    <a:pt x="11737" y="19445"/>
                  </a:cubicBezTo>
                  <a:cubicBezTo>
                    <a:pt x="12009" y="19391"/>
                    <a:pt x="12126" y="19505"/>
                    <a:pt x="12252" y="19698"/>
                  </a:cubicBezTo>
                  <a:cubicBezTo>
                    <a:pt x="12593" y="20221"/>
                    <a:pt x="12952" y="20733"/>
                    <a:pt x="13290" y="21259"/>
                  </a:cubicBezTo>
                  <a:cubicBezTo>
                    <a:pt x="13387" y="21411"/>
                    <a:pt x="13463" y="21432"/>
                    <a:pt x="13628" y="21356"/>
                  </a:cubicBezTo>
                  <a:cubicBezTo>
                    <a:pt x="14687" y="20866"/>
                    <a:pt x="15750" y="20382"/>
                    <a:pt x="16819" y="19912"/>
                  </a:cubicBezTo>
                  <a:cubicBezTo>
                    <a:pt x="17012" y="19827"/>
                    <a:pt x="17018" y="19738"/>
                    <a:pt x="16967" y="19560"/>
                  </a:cubicBezTo>
                  <a:cubicBezTo>
                    <a:pt x="16791" y="18948"/>
                    <a:pt x="16644" y="18329"/>
                    <a:pt x="16469" y="17716"/>
                  </a:cubicBezTo>
                  <a:cubicBezTo>
                    <a:pt x="16412" y="17519"/>
                    <a:pt x="16433" y="17386"/>
                    <a:pt x="16600" y="17250"/>
                  </a:cubicBezTo>
                  <a:cubicBezTo>
                    <a:pt x="16971" y="16946"/>
                    <a:pt x="17305" y="16598"/>
                    <a:pt x="17584" y="16209"/>
                  </a:cubicBezTo>
                  <a:cubicBezTo>
                    <a:pt x="17730" y="16006"/>
                    <a:pt x="17880" y="15980"/>
                    <a:pt x="18092" y="16024"/>
                  </a:cubicBezTo>
                  <a:cubicBezTo>
                    <a:pt x="18703" y="16151"/>
                    <a:pt x="19318" y="16260"/>
                    <a:pt x="19926" y="16398"/>
                  </a:cubicBezTo>
                  <a:cubicBezTo>
                    <a:pt x="20121" y="16442"/>
                    <a:pt x="20207" y="16404"/>
                    <a:pt x="20276" y="16218"/>
                  </a:cubicBezTo>
                  <a:cubicBezTo>
                    <a:pt x="20676" y="15133"/>
                    <a:pt x="21084" y="14050"/>
                    <a:pt x="21497" y="12970"/>
                  </a:cubicBezTo>
                  <a:cubicBezTo>
                    <a:pt x="21566" y="12790"/>
                    <a:pt x="21541" y="12697"/>
                    <a:pt x="21361" y="12600"/>
                  </a:cubicBezTo>
                  <a:cubicBezTo>
                    <a:pt x="20812" y="12303"/>
                    <a:pt x="20278" y="11982"/>
                    <a:pt x="19736" y="11674"/>
                  </a:cubicBezTo>
                  <a:cubicBezTo>
                    <a:pt x="19535" y="11559"/>
                    <a:pt x="19439" y="11431"/>
                    <a:pt x="19468" y="11163"/>
                  </a:cubicBezTo>
                  <a:cubicBezTo>
                    <a:pt x="19519" y="10701"/>
                    <a:pt x="19493" y="10230"/>
                    <a:pt x="19416" y="9768"/>
                  </a:cubicBezTo>
                  <a:cubicBezTo>
                    <a:pt x="19381" y="9559"/>
                    <a:pt x="19443" y="9442"/>
                    <a:pt x="19620" y="9328"/>
                  </a:cubicBezTo>
                  <a:cubicBezTo>
                    <a:pt x="20166" y="8978"/>
                    <a:pt x="20694" y="8603"/>
                    <a:pt x="21240" y="8252"/>
                  </a:cubicBezTo>
                  <a:cubicBezTo>
                    <a:pt x="21393" y="8154"/>
                    <a:pt x="21411" y="8075"/>
                    <a:pt x="21336" y="7912"/>
                  </a:cubicBezTo>
                  <a:cubicBezTo>
                    <a:pt x="20846" y="6851"/>
                    <a:pt x="20362" y="5788"/>
                    <a:pt x="19892" y="4718"/>
                  </a:cubicBezTo>
                  <a:cubicBezTo>
                    <a:pt x="19806" y="4523"/>
                    <a:pt x="19717" y="4523"/>
                    <a:pt x="19541" y="4574"/>
                  </a:cubicBezTo>
                  <a:cubicBezTo>
                    <a:pt x="18917" y="4751"/>
                    <a:pt x="18286" y="4905"/>
                    <a:pt x="17662" y="5080"/>
                  </a:cubicBezTo>
                  <a:cubicBezTo>
                    <a:pt x="17490" y="5129"/>
                    <a:pt x="17378" y="5103"/>
                    <a:pt x="17261" y="4959"/>
                  </a:cubicBezTo>
                  <a:cubicBezTo>
                    <a:pt x="16959" y="4585"/>
                    <a:pt x="16599" y="4263"/>
                    <a:pt x="16213" y="3983"/>
                  </a:cubicBezTo>
                  <a:cubicBezTo>
                    <a:pt x="16001" y="3828"/>
                    <a:pt x="15960" y="3672"/>
                    <a:pt x="16008" y="3442"/>
                  </a:cubicBezTo>
                  <a:cubicBezTo>
                    <a:pt x="16135" y="2831"/>
                    <a:pt x="16245" y="2217"/>
                    <a:pt x="16383" y="1609"/>
                  </a:cubicBezTo>
                  <a:cubicBezTo>
                    <a:pt x="16428" y="1413"/>
                    <a:pt x="16387" y="1327"/>
                    <a:pt x="16201" y="1258"/>
                  </a:cubicBezTo>
                  <a:cubicBezTo>
                    <a:pt x="15118" y="858"/>
                    <a:pt x="14036" y="450"/>
                    <a:pt x="12956" y="36"/>
                  </a:cubicBezTo>
                  <a:cubicBezTo>
                    <a:pt x="12911" y="19"/>
                    <a:pt x="12873" y="7"/>
                    <a:pt x="12837" y="2"/>
                  </a:cubicBezTo>
                  <a:close/>
                  <a:moveTo>
                    <a:pt x="10766" y="5818"/>
                  </a:moveTo>
                  <a:cubicBezTo>
                    <a:pt x="13503" y="5818"/>
                    <a:pt x="15722" y="8039"/>
                    <a:pt x="15722" y="10778"/>
                  </a:cubicBezTo>
                  <a:cubicBezTo>
                    <a:pt x="15722" y="13517"/>
                    <a:pt x="13503" y="15738"/>
                    <a:pt x="10766" y="15738"/>
                  </a:cubicBezTo>
                  <a:cubicBezTo>
                    <a:pt x="8030" y="15738"/>
                    <a:pt x="5810" y="13517"/>
                    <a:pt x="5810" y="10778"/>
                  </a:cubicBezTo>
                  <a:cubicBezTo>
                    <a:pt x="5810" y="8039"/>
                    <a:pt x="8030" y="5818"/>
                    <a:pt x="10766" y="5818"/>
                  </a:cubicBezTo>
                  <a:close/>
                </a:path>
              </a:pathLst>
            </a:custGeom>
            <a:solidFill>
              <a:srgbClr val="C26B23">
                <a:alpha val="84000"/>
              </a:srgbClr>
            </a:solidFill>
            <a:ln w="12700" cap="flat">
              <a:noFill/>
              <a:miter lim="400000"/>
            </a:ln>
            <a:effectLst>
              <a:outerShdw blurRad="63500" dist="25400" dir="5400000" rotWithShape="0">
                <a:srgbClr val="000000">
                  <a:alpha val="50000"/>
                </a:srgbClr>
              </a:outerShdw>
            </a:effectLst>
          </p:spPr>
          <p:txBody>
            <a:bodyPr wrap="square" lIns="36968" tIns="36968" rIns="36968" bIns="36968" numCol="1" anchor="ctr">
              <a:noAutofit/>
            </a:bodyPr>
            <a:lstStyle/>
            <a:p>
              <a:endParaRPr sz="1456"/>
            </a:p>
          </p:txBody>
        </p:sp>
        <p:sp>
          <p:nvSpPr>
            <p:cNvPr id="291" name="Bar Chart"/>
            <p:cNvSpPr/>
            <p:nvPr/>
          </p:nvSpPr>
          <p:spPr>
            <a:xfrm>
              <a:off x="561489" y="564712"/>
              <a:ext cx="2189582" cy="2183781"/>
            </a:xfrm>
            <a:custGeom>
              <a:avLst/>
              <a:gdLst/>
              <a:ahLst/>
              <a:cxnLst>
                <a:cxn ang="0">
                  <a:pos x="wd2" y="hd2"/>
                </a:cxn>
                <a:cxn ang="5400000">
                  <a:pos x="wd2" y="hd2"/>
                </a:cxn>
                <a:cxn ang="10800000">
                  <a:pos x="wd2" y="hd2"/>
                </a:cxn>
                <a:cxn ang="16200000">
                  <a:pos x="wd2" y="hd2"/>
                </a:cxn>
              </a:cxnLst>
              <a:rect l="0" t="0" r="r" b="b"/>
              <a:pathLst>
                <a:path w="21600" h="21600" extrusionOk="0">
                  <a:moveTo>
                    <a:pt x="194" y="0"/>
                  </a:moveTo>
                  <a:cubicBezTo>
                    <a:pt x="87" y="0"/>
                    <a:pt x="0" y="87"/>
                    <a:pt x="0" y="194"/>
                  </a:cubicBezTo>
                  <a:lnTo>
                    <a:pt x="0" y="21404"/>
                  </a:lnTo>
                  <a:cubicBezTo>
                    <a:pt x="0" y="21511"/>
                    <a:pt x="87" y="21600"/>
                    <a:pt x="194" y="21600"/>
                  </a:cubicBezTo>
                  <a:lnTo>
                    <a:pt x="21406" y="21600"/>
                  </a:lnTo>
                  <a:cubicBezTo>
                    <a:pt x="21513" y="21600"/>
                    <a:pt x="21600" y="21511"/>
                    <a:pt x="21600" y="21404"/>
                  </a:cubicBezTo>
                  <a:lnTo>
                    <a:pt x="21600" y="20822"/>
                  </a:lnTo>
                  <a:cubicBezTo>
                    <a:pt x="21600" y="20715"/>
                    <a:pt x="21513" y="20628"/>
                    <a:pt x="21406" y="20628"/>
                  </a:cubicBezTo>
                  <a:lnTo>
                    <a:pt x="1163" y="20628"/>
                  </a:lnTo>
                  <a:cubicBezTo>
                    <a:pt x="1056" y="20628"/>
                    <a:pt x="970" y="20539"/>
                    <a:pt x="970" y="20432"/>
                  </a:cubicBezTo>
                  <a:lnTo>
                    <a:pt x="970" y="194"/>
                  </a:lnTo>
                  <a:cubicBezTo>
                    <a:pt x="970" y="87"/>
                    <a:pt x="883" y="0"/>
                    <a:pt x="776" y="0"/>
                  </a:cubicBezTo>
                  <a:lnTo>
                    <a:pt x="194" y="0"/>
                  </a:lnTo>
                  <a:close/>
                  <a:moveTo>
                    <a:pt x="16860" y="3004"/>
                  </a:moveTo>
                  <a:lnTo>
                    <a:pt x="16860" y="19065"/>
                  </a:lnTo>
                  <a:lnTo>
                    <a:pt x="19553" y="19065"/>
                  </a:lnTo>
                  <a:lnTo>
                    <a:pt x="19553" y="3004"/>
                  </a:lnTo>
                  <a:lnTo>
                    <a:pt x="16860" y="3004"/>
                  </a:lnTo>
                  <a:close/>
                  <a:moveTo>
                    <a:pt x="7272" y="6922"/>
                  </a:moveTo>
                  <a:lnTo>
                    <a:pt x="7272" y="19065"/>
                  </a:lnTo>
                  <a:lnTo>
                    <a:pt x="9965" y="19065"/>
                  </a:lnTo>
                  <a:lnTo>
                    <a:pt x="9965" y="6922"/>
                  </a:lnTo>
                  <a:lnTo>
                    <a:pt x="7272" y="6922"/>
                  </a:lnTo>
                  <a:close/>
                  <a:moveTo>
                    <a:pt x="12066" y="10127"/>
                  </a:moveTo>
                  <a:lnTo>
                    <a:pt x="12066" y="19065"/>
                  </a:lnTo>
                  <a:lnTo>
                    <a:pt x="14759" y="19065"/>
                  </a:lnTo>
                  <a:lnTo>
                    <a:pt x="14759" y="10127"/>
                  </a:lnTo>
                  <a:lnTo>
                    <a:pt x="12066" y="10127"/>
                  </a:lnTo>
                  <a:close/>
                  <a:moveTo>
                    <a:pt x="2478" y="15151"/>
                  </a:moveTo>
                  <a:lnTo>
                    <a:pt x="2478" y="19065"/>
                  </a:lnTo>
                  <a:lnTo>
                    <a:pt x="5171" y="19065"/>
                  </a:lnTo>
                  <a:lnTo>
                    <a:pt x="5171" y="15151"/>
                  </a:lnTo>
                  <a:lnTo>
                    <a:pt x="2478" y="15151"/>
                  </a:lnTo>
                  <a:close/>
                </a:path>
              </a:pathLst>
            </a:custGeom>
            <a:solidFill>
              <a:srgbClr val="FFFFFF"/>
            </a:solidFill>
            <a:ln w="12700" cap="flat">
              <a:noFill/>
              <a:miter lim="400000"/>
            </a:ln>
            <a:effectLst>
              <a:outerShdw blurRad="63500" dist="25400" dir="5400000" rotWithShape="0">
                <a:srgbClr val="000000">
                  <a:alpha val="50000"/>
                </a:srgbClr>
              </a:outerShdw>
            </a:effectLst>
          </p:spPr>
          <p:txBody>
            <a:bodyPr wrap="square" lIns="36968" tIns="36968" rIns="36968" bIns="36968" numCol="1" anchor="ctr">
              <a:noAutofit/>
            </a:bodyPr>
            <a:lstStyle/>
            <a:p>
              <a:endParaRPr sz="1456"/>
            </a:p>
          </p:txBody>
        </p:sp>
      </p:gr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880</TotalTime>
  <Words>257</Words>
  <Application>Microsoft Office PowerPoint</Application>
  <PresentationFormat>Custom</PresentationFormat>
  <Paragraphs>38</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Join Us</vt:lpstr>
      <vt:lpstr>PowerPoint Presentation</vt:lpstr>
      <vt:lpstr>What is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Amit Chandak</cp:lastModifiedBy>
  <cp:revision>5</cp:revision>
  <dcterms:created xsi:type="dcterms:W3CDTF">2006-08-16T00:00:00Z</dcterms:created>
  <dcterms:modified xsi:type="dcterms:W3CDTF">2026-04-21T11:55:25Z</dcterms:modified>
</cp:coreProperties>
</file>